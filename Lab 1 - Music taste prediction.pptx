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5" r:id="rId9"/>
    <p:sldId id="266" r:id="rId10"/>
    <p:sldId id="262" r:id="rId11"/>
    <p:sldId id="263" r:id="rId12"/>
  </p:sldIdLst>
  <p:sldSz cx="9753600" cy="7315200"/>
  <p:notesSz cx="6858000" cy="9144000"/>
  <p:embeddedFontLst>
    <p:embeddedFont>
      <p:font typeface="Montserrat Bold" panose="02020500000000000000" charset="0"/>
      <p:regular r:id="rId13"/>
    </p:embeddedFont>
    <p:embeddedFont>
      <p:font typeface="Montserrat" panose="02020500000000000000" charset="0"/>
      <p:regular r:id="rId14"/>
    </p:embeddedFont>
    <p:embeddedFont>
      <p:font typeface="Bodoni FLF" panose="0202050000000000000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 Bold Italics" panose="02020500000000000000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876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56053" y="4474927"/>
            <a:ext cx="3267286" cy="3869436"/>
            <a:chOff x="0" y="0"/>
            <a:chExt cx="4356381" cy="5159248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765811" y="1085943"/>
              <a:ext cx="3639063" cy="1370191"/>
              <a:chOff x="0" y="0"/>
              <a:chExt cx="1079350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105395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53950" h="360680">
                    <a:moveTo>
                      <a:pt x="1053950" y="180340"/>
                    </a:moveTo>
                    <a:cubicBezTo>
                      <a:pt x="1053950" y="81280"/>
                      <a:pt x="973940" y="0"/>
                      <a:pt x="87361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73610" y="360680"/>
                    </a:lnTo>
                    <a:cubicBezTo>
                      <a:pt x="972670" y="360680"/>
                      <a:pt x="1053950" y="279400"/>
                      <a:pt x="1053950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-89626" y="2603810"/>
              <a:ext cx="3919937" cy="1370191"/>
              <a:chOff x="0" y="0"/>
              <a:chExt cx="1162657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780" y="22860"/>
                <a:ext cx="1137257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137257" h="360680">
                    <a:moveTo>
                      <a:pt x="1137257" y="180340"/>
                    </a:moveTo>
                    <a:cubicBezTo>
                      <a:pt x="1137257" y="81280"/>
                      <a:pt x="1057248" y="0"/>
                      <a:pt x="956917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56917" y="360680"/>
                    </a:lnTo>
                    <a:cubicBezTo>
                      <a:pt x="1055977" y="360680"/>
                      <a:pt x="1137257" y="279400"/>
                      <a:pt x="1137257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6713198" y="-405991"/>
            <a:ext cx="1556712" cy="1937698"/>
            <a:chOff x="0" y="0"/>
            <a:chExt cx="2075616" cy="2583597"/>
          </a:xfrm>
        </p:grpSpPr>
        <p:grpSp>
          <p:nvGrpSpPr>
            <p:cNvPr id="8" name="Group 8"/>
            <p:cNvGrpSpPr/>
            <p:nvPr/>
          </p:nvGrpSpPr>
          <p:grpSpPr>
            <a:xfrm rot="-2700000">
              <a:off x="12461" y="1170651"/>
              <a:ext cx="1955663" cy="845307"/>
              <a:chOff x="0" y="0"/>
              <a:chExt cx="940228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7780" y="22860"/>
                <a:ext cx="914828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914828" h="360680">
                    <a:moveTo>
                      <a:pt x="914828" y="180340"/>
                    </a:moveTo>
                    <a:cubicBezTo>
                      <a:pt x="914828" y="81280"/>
                      <a:pt x="834819" y="0"/>
                      <a:pt x="73448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734488" y="360680"/>
                    </a:lnTo>
                    <a:cubicBezTo>
                      <a:pt x="833548" y="360680"/>
                      <a:pt x="914828" y="279400"/>
                      <a:pt x="914828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239869" y="512806"/>
              <a:ext cx="1800573" cy="845307"/>
              <a:chOff x="0" y="0"/>
              <a:chExt cx="865665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780" y="22860"/>
                <a:ext cx="840266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840266" h="360680">
                    <a:moveTo>
                      <a:pt x="840266" y="180340"/>
                    </a:moveTo>
                    <a:cubicBezTo>
                      <a:pt x="840266" y="81280"/>
                      <a:pt x="760256" y="0"/>
                      <a:pt x="659925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659925" y="360680"/>
                    </a:lnTo>
                    <a:cubicBezTo>
                      <a:pt x="758985" y="360680"/>
                      <a:pt x="840266" y="279400"/>
                      <a:pt x="840266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</p:grpSp>
      <p:grpSp>
        <p:nvGrpSpPr>
          <p:cNvPr id="12" name="Group 12"/>
          <p:cNvGrpSpPr/>
          <p:nvPr/>
        </p:nvGrpSpPr>
        <p:grpSpPr>
          <a:xfrm>
            <a:off x="-1865580" y="-1330180"/>
            <a:ext cx="5817926" cy="6890152"/>
            <a:chOff x="0" y="0"/>
            <a:chExt cx="7757235" cy="9186869"/>
          </a:xfrm>
        </p:grpSpPr>
        <p:grpSp>
          <p:nvGrpSpPr>
            <p:cNvPr id="13" name="Group 13"/>
            <p:cNvGrpSpPr/>
            <p:nvPr/>
          </p:nvGrpSpPr>
          <p:grpSpPr>
            <a:xfrm rot="-2700000">
              <a:off x="1363649" y="1933696"/>
              <a:ext cx="6479935" cy="2439845"/>
              <a:chOff x="0" y="0"/>
              <a:chExt cx="1079350" cy="406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7780" y="22860"/>
                <a:ext cx="105395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53950" h="360680">
                    <a:moveTo>
                      <a:pt x="1053950" y="180340"/>
                    </a:moveTo>
                    <a:cubicBezTo>
                      <a:pt x="1053950" y="81280"/>
                      <a:pt x="973940" y="0"/>
                      <a:pt x="87361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73610" y="360680"/>
                    </a:lnTo>
                    <a:cubicBezTo>
                      <a:pt x="972670" y="360680"/>
                      <a:pt x="1053950" y="279400"/>
                      <a:pt x="1053950" y="180340"/>
                    </a:cubicBezTo>
                    <a:close/>
                  </a:path>
                </a:pathLst>
              </a:custGeom>
              <a:solidFill>
                <a:srgbClr val="947F57">
                  <a:alpha val="14902"/>
                </a:srgbClr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 rot="-2700000">
              <a:off x="-159593" y="4636502"/>
              <a:ext cx="6980076" cy="2439845"/>
              <a:chOff x="0" y="0"/>
              <a:chExt cx="1162657" cy="406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7780" y="22860"/>
                <a:ext cx="1137257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137257" h="360680">
                    <a:moveTo>
                      <a:pt x="1137257" y="180340"/>
                    </a:moveTo>
                    <a:cubicBezTo>
                      <a:pt x="1137257" y="81280"/>
                      <a:pt x="1057248" y="0"/>
                      <a:pt x="956917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56917" y="360680"/>
                    </a:lnTo>
                    <a:cubicBezTo>
                      <a:pt x="1055977" y="360680"/>
                      <a:pt x="1137257" y="279400"/>
                      <a:pt x="1137257" y="180340"/>
                    </a:cubicBezTo>
                    <a:close/>
                  </a:path>
                </a:pathLst>
              </a:custGeom>
              <a:solidFill>
                <a:srgbClr val="3D3D3D">
                  <a:alpha val="14902"/>
                </a:srgbClr>
              </a:solidFill>
            </p:spPr>
          </p:sp>
        </p:grpSp>
      </p:grpSp>
      <p:sp>
        <p:nvSpPr>
          <p:cNvPr id="17" name="TextBox 17"/>
          <p:cNvSpPr txBox="1"/>
          <p:nvPr/>
        </p:nvSpPr>
        <p:spPr>
          <a:xfrm>
            <a:off x="548640" y="2413923"/>
            <a:ext cx="9096767" cy="367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480"/>
              </a:lnSpc>
            </a:pPr>
            <a:r>
              <a:rPr lang="en-US" sz="7900" spc="-316">
                <a:solidFill>
                  <a:srgbClr val="3D3D3D"/>
                </a:solidFill>
                <a:latin typeface="Bodoni FLF"/>
              </a:rPr>
              <a:t>Lab 1 -  </a:t>
            </a:r>
          </a:p>
          <a:p>
            <a:pPr>
              <a:lnSpc>
                <a:spcPts val="9480"/>
              </a:lnSpc>
            </a:pPr>
            <a:r>
              <a:rPr lang="en-US" sz="7900" spc="-316">
                <a:solidFill>
                  <a:srgbClr val="3D3D3D"/>
                </a:solidFill>
                <a:latin typeface="Bodoni FLF"/>
              </a:rPr>
              <a:t>Music taste prediction</a:t>
            </a:r>
          </a:p>
          <a:p>
            <a:pPr>
              <a:lnSpc>
                <a:spcPts val="9480"/>
              </a:lnSpc>
            </a:pPr>
            <a:endParaRPr lang="en-US" sz="7900" spc="-316">
              <a:solidFill>
                <a:srgbClr val="3D3D3D"/>
              </a:solidFill>
              <a:latin typeface="Bodoni FL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8640" y="6194044"/>
            <a:ext cx="8974873" cy="389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81"/>
              </a:lnSpc>
            </a:pPr>
            <a:r>
              <a:rPr lang="en-US" sz="2370" spc="47">
                <a:solidFill>
                  <a:srgbClr val="3D3D3D"/>
                </a:solidFill>
                <a:latin typeface="Montserrat"/>
              </a:rPr>
              <a:t>Kuan Teh Wan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14932" y="4175625"/>
            <a:ext cx="5817926" cy="6890152"/>
            <a:chOff x="0" y="0"/>
            <a:chExt cx="7757235" cy="9186869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1363649" y="1933696"/>
              <a:ext cx="6479935" cy="2439845"/>
              <a:chOff x="0" y="0"/>
              <a:chExt cx="1079350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105395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53950" h="360680">
                    <a:moveTo>
                      <a:pt x="1053950" y="180340"/>
                    </a:moveTo>
                    <a:cubicBezTo>
                      <a:pt x="1053950" y="81280"/>
                      <a:pt x="973940" y="0"/>
                      <a:pt x="87361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73610" y="360680"/>
                    </a:lnTo>
                    <a:cubicBezTo>
                      <a:pt x="972670" y="360680"/>
                      <a:pt x="1053950" y="279400"/>
                      <a:pt x="1053950" y="180340"/>
                    </a:cubicBezTo>
                    <a:close/>
                  </a:path>
                </a:pathLst>
              </a:custGeom>
              <a:solidFill>
                <a:srgbClr val="3D3D3D">
                  <a:alpha val="14902"/>
                </a:srgbClr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-159593" y="4636502"/>
              <a:ext cx="6980076" cy="2439845"/>
              <a:chOff x="0" y="0"/>
              <a:chExt cx="1162657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780" y="22860"/>
                <a:ext cx="1137257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137257" h="360680">
                    <a:moveTo>
                      <a:pt x="1137257" y="180340"/>
                    </a:moveTo>
                    <a:cubicBezTo>
                      <a:pt x="1137257" y="81280"/>
                      <a:pt x="1057248" y="0"/>
                      <a:pt x="956917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56917" y="360680"/>
                    </a:lnTo>
                    <a:cubicBezTo>
                      <a:pt x="1055977" y="360680"/>
                      <a:pt x="1137257" y="279400"/>
                      <a:pt x="1137257" y="180340"/>
                    </a:cubicBezTo>
                    <a:close/>
                  </a:path>
                </a:pathLst>
              </a:custGeom>
              <a:solidFill>
                <a:srgbClr val="947F57">
                  <a:alpha val="14902"/>
                </a:srgbClr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8456018" y="-511578"/>
            <a:ext cx="2248102" cy="2248102"/>
            <a:chOff x="0" y="0"/>
            <a:chExt cx="2997470" cy="2997470"/>
          </a:xfrm>
        </p:grpSpPr>
        <p:grpSp>
          <p:nvGrpSpPr>
            <p:cNvPr id="8" name="Group 8"/>
            <p:cNvGrpSpPr/>
            <p:nvPr/>
          </p:nvGrpSpPr>
          <p:grpSpPr>
            <a:xfrm rot="-2700000">
              <a:off x="-139827" y="1017765"/>
              <a:ext cx="3277123" cy="961939"/>
              <a:chOff x="0" y="0"/>
              <a:chExt cx="1384518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7780" y="22860"/>
                <a:ext cx="1359119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359119" h="360680">
                    <a:moveTo>
                      <a:pt x="1359119" y="180340"/>
                    </a:moveTo>
                    <a:cubicBezTo>
                      <a:pt x="1359119" y="81280"/>
                      <a:pt x="1279109" y="0"/>
                      <a:pt x="117877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78778" y="360680"/>
                    </a:lnTo>
                    <a:cubicBezTo>
                      <a:pt x="1277838" y="360680"/>
                      <a:pt x="1359119" y="279400"/>
                      <a:pt x="1359119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196405" y="758956"/>
              <a:ext cx="1994974" cy="961939"/>
              <a:chOff x="0" y="0"/>
              <a:chExt cx="842836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780" y="22860"/>
                <a:ext cx="817436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817436" h="360680">
                    <a:moveTo>
                      <a:pt x="817436" y="180340"/>
                    </a:moveTo>
                    <a:cubicBezTo>
                      <a:pt x="817436" y="81280"/>
                      <a:pt x="737427" y="0"/>
                      <a:pt x="637096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637096" y="360680"/>
                    </a:lnTo>
                    <a:cubicBezTo>
                      <a:pt x="736156" y="360680"/>
                      <a:pt x="817436" y="279400"/>
                      <a:pt x="817436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</p:grpSp>
      <p:grpSp>
        <p:nvGrpSpPr>
          <p:cNvPr id="12" name="Group 12"/>
          <p:cNvGrpSpPr/>
          <p:nvPr/>
        </p:nvGrpSpPr>
        <p:grpSpPr>
          <a:xfrm>
            <a:off x="43066" y="731520"/>
            <a:ext cx="9667467" cy="6400800"/>
            <a:chOff x="0" y="0"/>
            <a:chExt cx="12889956" cy="8534400"/>
          </a:xfrm>
        </p:grpSpPr>
        <p:sp>
          <p:nvSpPr>
            <p:cNvPr id="13" name="TextBox 13"/>
            <p:cNvSpPr txBox="1"/>
            <p:nvPr/>
          </p:nvSpPr>
          <p:spPr>
            <a:xfrm>
              <a:off x="1307414" y="-47625"/>
              <a:ext cx="10160285" cy="8582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4200" spc="-168">
                  <a:solidFill>
                    <a:srgbClr val="3D3D3D"/>
                  </a:solidFill>
                  <a:latin typeface="Bodoni FLF"/>
                </a:rPr>
                <a:t>After multiple testings, found out that more doesn’t always mean better. Thus I chose 4 features: acousticness, danceability, duration, speechiness.</a:t>
              </a:r>
            </a:p>
            <a:p>
              <a:pPr algn="ctr">
                <a:lnSpc>
                  <a:spcPts val="5040"/>
                </a:lnSpc>
              </a:pPr>
              <a:endParaRPr lang="en-US" sz="4200" spc="-168">
                <a:solidFill>
                  <a:srgbClr val="3D3D3D"/>
                </a:solidFill>
                <a:latin typeface="Bodoni FLF"/>
              </a:endParaRPr>
            </a:p>
            <a:p>
              <a:pPr algn="ctr">
                <a:lnSpc>
                  <a:spcPts val="5040"/>
                </a:lnSpc>
              </a:pPr>
              <a:endParaRPr lang="en-US" sz="4200" spc="-168">
                <a:solidFill>
                  <a:srgbClr val="3D3D3D"/>
                </a:solidFill>
                <a:latin typeface="Bodoni FLF"/>
              </a:endParaRPr>
            </a:p>
            <a:p>
              <a:pPr algn="ctr">
                <a:lnSpc>
                  <a:spcPts val="5040"/>
                </a:lnSpc>
              </a:pPr>
              <a:endParaRPr lang="en-US" sz="4200" spc="-168">
                <a:solidFill>
                  <a:srgbClr val="3D3D3D"/>
                </a:solidFill>
                <a:latin typeface="Bodoni FLF"/>
              </a:endParaRPr>
            </a:p>
            <a:p>
              <a:pPr algn="ctr">
                <a:lnSpc>
                  <a:spcPts val="5040"/>
                </a:lnSpc>
              </a:pPr>
              <a:endParaRPr lang="en-US" sz="4200" spc="-168">
                <a:solidFill>
                  <a:srgbClr val="3D3D3D"/>
                </a:solidFill>
                <a:latin typeface="Bodoni FLF"/>
              </a:endParaRPr>
            </a:p>
            <a:p>
              <a:pPr algn="ctr">
                <a:lnSpc>
                  <a:spcPts val="5040"/>
                </a:lnSpc>
              </a:pPr>
              <a:r>
                <a:rPr lang="en-US" sz="4200" spc="-168">
                  <a:solidFill>
                    <a:srgbClr val="3D3D3D"/>
                  </a:solidFill>
                  <a:latin typeface="Bodoni FLF"/>
                </a:rPr>
                <a:t>And consider them all to be quantitative.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3985318"/>
              <a:ext cx="12889956" cy="1111786"/>
            </a:xfrm>
            <a:custGeom>
              <a:avLst/>
              <a:gdLst/>
              <a:ahLst/>
              <a:cxnLst/>
              <a:rect l="l" t="t" r="r" b="b"/>
              <a:pathLst>
                <a:path w="12889956" h="1111786">
                  <a:moveTo>
                    <a:pt x="0" y="0"/>
                  </a:moveTo>
                  <a:lnTo>
                    <a:pt x="12889956" y="0"/>
                  </a:lnTo>
                  <a:lnTo>
                    <a:pt x="12889956" y="1111786"/>
                  </a:lnTo>
                  <a:lnTo>
                    <a:pt x="0" y="1111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7441" b="-358138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5447439"/>
              <a:ext cx="12889956" cy="985094"/>
            </a:xfrm>
            <a:custGeom>
              <a:avLst/>
              <a:gdLst/>
              <a:ahLst/>
              <a:cxnLst/>
              <a:rect l="l" t="t" r="r" b="b"/>
              <a:pathLst>
                <a:path w="12889956" h="985094">
                  <a:moveTo>
                    <a:pt x="0" y="0"/>
                  </a:moveTo>
                  <a:lnTo>
                    <a:pt x="12889956" y="0"/>
                  </a:lnTo>
                  <a:lnTo>
                    <a:pt x="12889956" y="985094"/>
                  </a:lnTo>
                  <a:lnTo>
                    <a:pt x="0" y="985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9315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0110" y="-708784"/>
            <a:ext cx="2457499" cy="2880609"/>
            <a:chOff x="0" y="0"/>
            <a:chExt cx="3276666" cy="3840812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48467" y="1055171"/>
              <a:ext cx="3383271" cy="962784"/>
              <a:chOff x="0" y="0"/>
              <a:chExt cx="1428111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1402711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402711" h="360680">
                    <a:moveTo>
                      <a:pt x="1402711" y="180340"/>
                    </a:moveTo>
                    <a:cubicBezTo>
                      <a:pt x="1402711" y="81280"/>
                      <a:pt x="1322701" y="0"/>
                      <a:pt x="122237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22371" y="360680"/>
                    </a:lnTo>
                    <a:cubicBezTo>
                      <a:pt x="1321431" y="360680"/>
                      <a:pt x="1402711" y="279400"/>
                      <a:pt x="1402711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-135923" y="1869091"/>
              <a:ext cx="3252503" cy="962784"/>
              <a:chOff x="0" y="0"/>
              <a:chExt cx="1372912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780" y="22860"/>
                <a:ext cx="1347512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347512" h="360680">
                    <a:moveTo>
                      <a:pt x="1347512" y="180340"/>
                    </a:moveTo>
                    <a:cubicBezTo>
                      <a:pt x="1347512" y="81280"/>
                      <a:pt x="1267502" y="0"/>
                      <a:pt x="116717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67172" y="360680"/>
                    </a:lnTo>
                    <a:cubicBezTo>
                      <a:pt x="1266232" y="360680"/>
                      <a:pt x="1347512" y="279400"/>
                      <a:pt x="1347512" y="1803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4497524" y="1811001"/>
            <a:ext cx="7362221" cy="8582653"/>
            <a:chOff x="0" y="0"/>
            <a:chExt cx="9816294" cy="11443538"/>
          </a:xfrm>
        </p:grpSpPr>
        <p:grpSp>
          <p:nvGrpSpPr>
            <p:cNvPr id="8" name="Group 8"/>
            <p:cNvGrpSpPr/>
            <p:nvPr/>
          </p:nvGrpSpPr>
          <p:grpSpPr>
            <a:xfrm rot="-2700000">
              <a:off x="333376" y="3114563"/>
              <a:ext cx="9959622" cy="2777089"/>
              <a:chOff x="0" y="0"/>
              <a:chExt cx="1457494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7780" y="22860"/>
                <a:ext cx="1432094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432094" h="360680">
                    <a:moveTo>
                      <a:pt x="1432094" y="180340"/>
                    </a:moveTo>
                    <a:cubicBezTo>
                      <a:pt x="1432094" y="81280"/>
                      <a:pt x="1352084" y="0"/>
                      <a:pt x="1251754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51754" y="360680"/>
                    </a:lnTo>
                    <a:cubicBezTo>
                      <a:pt x="1350814" y="360680"/>
                      <a:pt x="1432094" y="279400"/>
                      <a:pt x="1432094" y="180340"/>
                    </a:cubicBezTo>
                    <a:close/>
                  </a:path>
                </a:pathLst>
              </a:custGeom>
              <a:solidFill>
                <a:srgbClr val="FFFFFF">
                  <a:alpha val="14902"/>
                </a:srgbClr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-401998" y="5732241"/>
              <a:ext cx="9449500" cy="2777089"/>
              <a:chOff x="0" y="0"/>
              <a:chExt cx="1382842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780" y="22860"/>
                <a:ext cx="1357443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357443" h="360680">
                    <a:moveTo>
                      <a:pt x="1357443" y="180340"/>
                    </a:moveTo>
                    <a:cubicBezTo>
                      <a:pt x="1357443" y="81280"/>
                      <a:pt x="1277433" y="0"/>
                      <a:pt x="117710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77102" y="360680"/>
                    </a:lnTo>
                    <a:cubicBezTo>
                      <a:pt x="1276162" y="360680"/>
                      <a:pt x="1357443" y="279400"/>
                      <a:pt x="1357443" y="180340"/>
                    </a:cubicBezTo>
                    <a:close/>
                  </a:path>
                </a:pathLst>
              </a:custGeom>
              <a:solidFill>
                <a:srgbClr val="947F57">
                  <a:alpha val="14902"/>
                </a:srgbClr>
              </a:solidFill>
            </p:spPr>
          </p:sp>
        </p:grpSp>
      </p:grpSp>
      <p:sp>
        <p:nvSpPr>
          <p:cNvPr id="12" name="AutoShape 12"/>
          <p:cNvSpPr/>
          <p:nvPr/>
        </p:nvSpPr>
        <p:spPr>
          <a:xfrm>
            <a:off x="5170176" y="0"/>
            <a:ext cx="20320" cy="5080000"/>
          </a:xfrm>
          <a:prstGeom prst="rect">
            <a:avLst/>
          </a:prstGeom>
          <a:solidFill>
            <a:srgbClr val="947F57"/>
          </a:solidFill>
        </p:spPr>
      </p:sp>
      <p:sp>
        <p:nvSpPr>
          <p:cNvPr id="14" name="TextBox 14"/>
          <p:cNvSpPr txBox="1"/>
          <p:nvPr/>
        </p:nvSpPr>
        <p:spPr>
          <a:xfrm>
            <a:off x="1777390" y="317037"/>
            <a:ext cx="5690210" cy="1442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48"/>
              </a:lnSpc>
            </a:pPr>
            <a:r>
              <a:rPr lang="en-US" sz="5134" spc="-205" dirty="0" smtClean="0">
                <a:solidFill>
                  <a:srgbClr val="FFFFFF"/>
                </a:solidFill>
                <a:latin typeface="Bodoni FLF"/>
              </a:rPr>
              <a:t>Motivations of </a:t>
            </a:r>
          </a:p>
          <a:p>
            <a:pPr>
              <a:lnSpc>
                <a:spcPts val="5648"/>
              </a:lnSpc>
            </a:pPr>
            <a:r>
              <a:rPr lang="en-US" sz="5134" spc="-205" dirty="0" smtClean="0">
                <a:solidFill>
                  <a:srgbClr val="FFFFFF"/>
                </a:solidFill>
                <a:latin typeface="Bodoni FLF"/>
              </a:rPr>
              <a:t>Features(Updated)</a:t>
            </a:r>
            <a:endParaRPr lang="en-US" sz="5134" spc="-205" dirty="0">
              <a:solidFill>
                <a:srgbClr val="FFFFFF"/>
              </a:solidFill>
              <a:latin typeface="Bodoni FLF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97125" y="2901011"/>
            <a:ext cx="3942079" cy="3061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06400" lvl="1">
              <a:lnSpc>
                <a:spcPts val="2409"/>
              </a:lnSpc>
            </a:pPr>
            <a:r>
              <a:rPr lang="en-US" sz="1911" spc="38" dirty="0" smtClean="0">
                <a:solidFill>
                  <a:srgbClr val="FFFFFF"/>
                </a:solidFill>
                <a:latin typeface="Montserrat"/>
              </a:rPr>
              <a:t>By comparing the histograms of the four features and th</a:t>
            </a:r>
            <a:r>
              <a:rPr lang="en-US" sz="1911" spc="38" dirty="0" smtClean="0">
                <a:solidFill>
                  <a:srgbClr val="FFFFFF"/>
                </a:solidFill>
                <a:latin typeface="Montserrat"/>
              </a:rPr>
              <a:t>e label. </a:t>
            </a:r>
          </a:p>
          <a:p>
            <a:pPr marL="206400" lvl="1">
              <a:lnSpc>
                <a:spcPts val="2409"/>
              </a:lnSpc>
            </a:pPr>
            <a:endParaRPr lang="en-US" sz="1911" spc="38" dirty="0" smtClean="0">
              <a:solidFill>
                <a:srgbClr val="FFFFFF"/>
              </a:solidFill>
              <a:latin typeface="Montserrat"/>
            </a:endParaRPr>
          </a:p>
          <a:p>
            <a:pPr marL="206400" lvl="1">
              <a:lnSpc>
                <a:spcPts val="2409"/>
              </a:lnSpc>
            </a:pPr>
            <a:r>
              <a:rPr lang="en-US" sz="1911" spc="38" dirty="0" smtClean="0">
                <a:solidFill>
                  <a:srgbClr val="FFFFFF"/>
                </a:solidFill>
                <a:latin typeface="Montserrat"/>
              </a:rPr>
              <a:t>We can see that </a:t>
            </a:r>
            <a:r>
              <a:rPr lang="en-US" sz="1911" u="sng" spc="38" dirty="0" smtClean="0">
                <a:solidFill>
                  <a:srgbClr val="FFDE59"/>
                </a:solidFill>
                <a:latin typeface="Montserrat Bold Italics"/>
              </a:rPr>
              <a:t>it’s fairly distributed</a:t>
            </a:r>
            <a:r>
              <a:rPr lang="en-US" sz="1911" spc="38" dirty="0" smtClean="0">
                <a:solidFill>
                  <a:srgbClr val="FFFFFF"/>
                </a:solidFill>
                <a:latin typeface="Montserrat"/>
              </a:rPr>
              <a:t>. </a:t>
            </a:r>
          </a:p>
          <a:p>
            <a:pPr marL="206400" lvl="1">
              <a:lnSpc>
                <a:spcPts val="2409"/>
              </a:lnSpc>
            </a:pPr>
            <a:endParaRPr lang="en-US" sz="1911" spc="38" dirty="0">
              <a:solidFill>
                <a:srgbClr val="FFFFFF"/>
              </a:solidFill>
              <a:latin typeface="Montserrat"/>
            </a:endParaRPr>
          </a:p>
          <a:p>
            <a:pPr marL="206400" lvl="1">
              <a:lnSpc>
                <a:spcPts val="2409"/>
              </a:lnSpc>
            </a:pPr>
            <a:r>
              <a:rPr lang="en-US" sz="1911" spc="38" dirty="0" smtClean="0">
                <a:solidFill>
                  <a:srgbClr val="FFFFFF"/>
                </a:solidFill>
                <a:latin typeface="Montserrat"/>
              </a:rPr>
              <a:t>Hence these features might and can be a good choice for predicting the outcome. </a:t>
            </a:r>
            <a:endParaRPr lang="en-US" sz="1911" spc="38" dirty="0">
              <a:solidFill>
                <a:srgbClr val="FFFFFF"/>
              </a:solidFill>
              <a:latin typeface="Montserrat"/>
            </a:endParaRP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5" t="2778" r="28906"/>
          <a:stretch/>
        </p:blipFill>
        <p:spPr>
          <a:xfrm>
            <a:off x="899559" y="1764687"/>
            <a:ext cx="4191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0110" y="-708784"/>
            <a:ext cx="2457499" cy="2880609"/>
            <a:chOff x="0" y="0"/>
            <a:chExt cx="3276666" cy="3840812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48467" y="1055171"/>
              <a:ext cx="3383271" cy="962784"/>
              <a:chOff x="0" y="0"/>
              <a:chExt cx="1428111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1402711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402711" h="360680">
                    <a:moveTo>
                      <a:pt x="1402711" y="180340"/>
                    </a:moveTo>
                    <a:cubicBezTo>
                      <a:pt x="1402711" y="81280"/>
                      <a:pt x="1322701" y="0"/>
                      <a:pt x="122237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22371" y="360680"/>
                    </a:lnTo>
                    <a:cubicBezTo>
                      <a:pt x="1321431" y="360680"/>
                      <a:pt x="1402711" y="279400"/>
                      <a:pt x="1402711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-135923" y="1869091"/>
              <a:ext cx="3252503" cy="962784"/>
              <a:chOff x="0" y="0"/>
              <a:chExt cx="1372912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780" y="22860"/>
                <a:ext cx="1347512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347512" h="360680">
                    <a:moveTo>
                      <a:pt x="1347512" y="180340"/>
                    </a:moveTo>
                    <a:cubicBezTo>
                      <a:pt x="1347512" y="81280"/>
                      <a:pt x="1267502" y="0"/>
                      <a:pt x="116717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67172" y="360680"/>
                    </a:lnTo>
                    <a:cubicBezTo>
                      <a:pt x="1266232" y="360680"/>
                      <a:pt x="1347512" y="279400"/>
                      <a:pt x="1347512" y="1803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4251991" y="1811001"/>
            <a:ext cx="7362221" cy="8582653"/>
            <a:chOff x="0" y="0"/>
            <a:chExt cx="9816294" cy="11443538"/>
          </a:xfrm>
        </p:grpSpPr>
        <p:grpSp>
          <p:nvGrpSpPr>
            <p:cNvPr id="8" name="Group 8"/>
            <p:cNvGrpSpPr/>
            <p:nvPr/>
          </p:nvGrpSpPr>
          <p:grpSpPr>
            <a:xfrm rot="-2700000">
              <a:off x="333376" y="3114563"/>
              <a:ext cx="9959622" cy="2777089"/>
              <a:chOff x="0" y="0"/>
              <a:chExt cx="1457494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7780" y="22860"/>
                <a:ext cx="1432094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432094" h="360680">
                    <a:moveTo>
                      <a:pt x="1432094" y="180340"/>
                    </a:moveTo>
                    <a:cubicBezTo>
                      <a:pt x="1432094" y="81280"/>
                      <a:pt x="1352084" y="0"/>
                      <a:pt x="1251754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51754" y="360680"/>
                    </a:lnTo>
                    <a:cubicBezTo>
                      <a:pt x="1350814" y="360680"/>
                      <a:pt x="1432094" y="279400"/>
                      <a:pt x="1432094" y="180340"/>
                    </a:cubicBezTo>
                    <a:close/>
                  </a:path>
                </a:pathLst>
              </a:custGeom>
              <a:solidFill>
                <a:srgbClr val="FFFFFF">
                  <a:alpha val="14902"/>
                </a:srgbClr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-401998" y="5732241"/>
              <a:ext cx="9449500" cy="2777089"/>
              <a:chOff x="0" y="0"/>
              <a:chExt cx="1382842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780" y="22860"/>
                <a:ext cx="1357443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357443" h="360680">
                    <a:moveTo>
                      <a:pt x="1357443" y="180340"/>
                    </a:moveTo>
                    <a:cubicBezTo>
                      <a:pt x="1357443" y="81280"/>
                      <a:pt x="1277433" y="0"/>
                      <a:pt x="117710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77102" y="360680"/>
                    </a:lnTo>
                    <a:cubicBezTo>
                      <a:pt x="1276162" y="360680"/>
                      <a:pt x="1357443" y="279400"/>
                      <a:pt x="1357443" y="180340"/>
                    </a:cubicBezTo>
                    <a:close/>
                  </a:path>
                </a:pathLst>
              </a:custGeom>
              <a:solidFill>
                <a:srgbClr val="947F57">
                  <a:alpha val="14902"/>
                </a:srgbClr>
              </a:solidFill>
            </p:spPr>
          </p:sp>
        </p:grpSp>
      </p:grpSp>
      <p:sp>
        <p:nvSpPr>
          <p:cNvPr id="12" name="AutoShape 12"/>
          <p:cNvSpPr/>
          <p:nvPr/>
        </p:nvSpPr>
        <p:spPr>
          <a:xfrm>
            <a:off x="5170176" y="0"/>
            <a:ext cx="20320" cy="5080000"/>
          </a:xfrm>
          <a:prstGeom prst="rect">
            <a:avLst/>
          </a:prstGeom>
          <a:solidFill>
            <a:srgbClr val="947F57"/>
          </a:solidFill>
        </p:spPr>
      </p:sp>
      <p:sp>
        <p:nvSpPr>
          <p:cNvPr id="13" name="Freeform 13"/>
          <p:cNvSpPr/>
          <p:nvPr/>
        </p:nvSpPr>
        <p:spPr>
          <a:xfrm>
            <a:off x="1659387" y="3594758"/>
            <a:ext cx="7162382" cy="2971062"/>
          </a:xfrm>
          <a:custGeom>
            <a:avLst/>
            <a:gdLst/>
            <a:ahLst/>
            <a:cxnLst/>
            <a:rect l="l" t="t" r="r" b="b"/>
            <a:pathLst>
              <a:path w="7162382" h="2971062">
                <a:moveTo>
                  <a:pt x="0" y="0"/>
                </a:moveTo>
                <a:lnTo>
                  <a:pt x="7162382" y="0"/>
                </a:lnTo>
                <a:lnTo>
                  <a:pt x="7162382" y="2971062"/>
                </a:lnTo>
                <a:lnTo>
                  <a:pt x="0" y="2971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77390" y="317037"/>
            <a:ext cx="4673811" cy="14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48"/>
              </a:lnSpc>
            </a:pPr>
            <a:r>
              <a:rPr lang="en-US" sz="5134" spc="-205">
                <a:solidFill>
                  <a:srgbClr val="FFFFFF"/>
                </a:solidFill>
                <a:latin typeface="Bodoni FLF"/>
              </a:rPr>
              <a:t>Using</a:t>
            </a:r>
          </a:p>
          <a:p>
            <a:pPr>
              <a:lnSpc>
                <a:spcPts val="5648"/>
              </a:lnSpc>
            </a:pPr>
            <a:r>
              <a:rPr lang="en-US" sz="5134" spc="-205">
                <a:solidFill>
                  <a:srgbClr val="FFFFFF"/>
                </a:solidFill>
                <a:latin typeface="Bodoni FLF"/>
              </a:rPr>
              <a:t>Random Forest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9222" y="1918734"/>
            <a:ext cx="7262547" cy="155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2799" lvl="1" indent="-206399" algn="just">
              <a:lnSpc>
                <a:spcPts val="2409"/>
              </a:lnSpc>
              <a:buFont typeface="Arial"/>
              <a:buChar char="•"/>
            </a:pPr>
            <a:r>
              <a:rPr lang="en-US" sz="1911" spc="38">
                <a:solidFill>
                  <a:srgbClr val="FFFFFF"/>
                </a:solidFill>
                <a:latin typeface="Montserrat"/>
              </a:rPr>
              <a:t>Random Forests are </a:t>
            </a: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not influenced by outliers</a:t>
            </a:r>
            <a:r>
              <a:rPr lang="en-US" sz="1911" spc="38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1911" spc="38">
                <a:solidFill>
                  <a:srgbClr val="FFFFFF"/>
                </a:solidFill>
                <a:latin typeface="Montserrat"/>
              </a:rPr>
              <a:t>to a fair degree.</a:t>
            </a:r>
          </a:p>
          <a:p>
            <a:pPr marL="412799" lvl="1" indent="-206399" algn="just">
              <a:lnSpc>
                <a:spcPts val="2485"/>
              </a:lnSpc>
              <a:buFont typeface="Arial"/>
              <a:buChar char="•"/>
            </a:pPr>
            <a:r>
              <a:rPr lang="en-US" sz="1911" spc="38">
                <a:solidFill>
                  <a:srgbClr val="E8E8E8"/>
                </a:solidFill>
                <a:latin typeface="Montserrat"/>
              </a:rPr>
              <a:t>can </a:t>
            </a: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handle linear &amp; non-linear</a:t>
            </a:r>
            <a:r>
              <a:rPr lang="en-US" sz="1911" spc="38">
                <a:solidFill>
                  <a:srgbClr val="FFFFFF"/>
                </a:solidFill>
                <a:latin typeface="Montserrat"/>
              </a:rPr>
              <a:t> relationships well.</a:t>
            </a:r>
          </a:p>
          <a:p>
            <a:pPr marL="412799" lvl="1" indent="-206399" algn="just">
              <a:lnSpc>
                <a:spcPts val="2485"/>
              </a:lnSpc>
              <a:buFont typeface="Arial"/>
              <a:buChar char="•"/>
            </a:pPr>
            <a:r>
              <a:rPr lang="en-US" sz="1911" spc="38">
                <a:solidFill>
                  <a:srgbClr val="FFFFFF"/>
                </a:solidFill>
                <a:latin typeface="Montserrat"/>
              </a:rPr>
              <a:t>Provide </a:t>
            </a: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high accuracy</a:t>
            </a:r>
            <a:r>
              <a:rPr lang="en-US" sz="1911" spc="38">
                <a:solidFill>
                  <a:srgbClr val="FFFFFF"/>
                </a:solidFill>
                <a:latin typeface="Montserrat"/>
              </a:rPr>
              <a:t> and balance the bias-variance trade-off well.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3339" y="6564630"/>
            <a:ext cx="6614478" cy="619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85"/>
              </a:lnSpc>
            </a:pPr>
            <a:r>
              <a:rPr lang="en-US" sz="1911" spc="38">
                <a:solidFill>
                  <a:srgbClr val="E8E8E8"/>
                </a:solidFill>
                <a:latin typeface="Montserrat"/>
              </a:rPr>
              <a:t>Noticed that the highest score can go 0.9, whereas the lowest is 0.7, high accuracy indeed.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89940" y="3657600"/>
            <a:ext cx="3502697" cy="4227834"/>
            <a:chOff x="0" y="0"/>
            <a:chExt cx="4670263" cy="5637112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-80497" y="2625971"/>
              <a:ext cx="4533230" cy="1650045"/>
              <a:chOff x="0" y="0"/>
              <a:chExt cx="1116518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1091118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91118" h="360680">
                    <a:moveTo>
                      <a:pt x="1091118" y="180340"/>
                    </a:moveTo>
                    <a:cubicBezTo>
                      <a:pt x="1091118" y="81280"/>
                      <a:pt x="1011108" y="0"/>
                      <a:pt x="91077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10778" y="360680"/>
                    </a:lnTo>
                    <a:cubicBezTo>
                      <a:pt x="1009838" y="360680"/>
                      <a:pt x="1091118" y="279400"/>
                      <a:pt x="1091118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301647" y="1326253"/>
              <a:ext cx="4434681" cy="1650045"/>
              <a:chOff x="0" y="0"/>
              <a:chExt cx="1092245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780" y="22860"/>
                <a:ext cx="1066845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66845" h="360680">
                    <a:moveTo>
                      <a:pt x="1066845" y="180340"/>
                    </a:moveTo>
                    <a:cubicBezTo>
                      <a:pt x="1066845" y="81280"/>
                      <a:pt x="986836" y="0"/>
                      <a:pt x="886505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86505" y="360680"/>
                    </a:lnTo>
                    <a:cubicBezTo>
                      <a:pt x="985565" y="360680"/>
                      <a:pt x="1066845" y="279400"/>
                      <a:pt x="1066845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-1464109" y="-570234"/>
            <a:ext cx="3502697" cy="4227834"/>
            <a:chOff x="0" y="0"/>
            <a:chExt cx="4670263" cy="5637112"/>
          </a:xfrm>
        </p:grpSpPr>
        <p:grpSp>
          <p:nvGrpSpPr>
            <p:cNvPr id="8" name="Group 8"/>
            <p:cNvGrpSpPr/>
            <p:nvPr/>
          </p:nvGrpSpPr>
          <p:grpSpPr>
            <a:xfrm rot="-2700000">
              <a:off x="301647" y="1326253"/>
              <a:ext cx="4434681" cy="1650045"/>
              <a:chOff x="0" y="0"/>
              <a:chExt cx="1092245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7780" y="22860"/>
                <a:ext cx="1066845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66845" h="360680">
                    <a:moveTo>
                      <a:pt x="1066845" y="180340"/>
                    </a:moveTo>
                    <a:cubicBezTo>
                      <a:pt x="1066845" y="81280"/>
                      <a:pt x="986836" y="0"/>
                      <a:pt x="886505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86505" y="360680"/>
                    </a:lnTo>
                    <a:cubicBezTo>
                      <a:pt x="985565" y="360680"/>
                      <a:pt x="1066845" y="279400"/>
                      <a:pt x="1066845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-80497" y="2625971"/>
              <a:ext cx="4533230" cy="1650045"/>
              <a:chOff x="0" y="0"/>
              <a:chExt cx="1116518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780" y="22860"/>
                <a:ext cx="1091118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91118" h="360680">
                    <a:moveTo>
                      <a:pt x="1091118" y="180340"/>
                    </a:moveTo>
                    <a:cubicBezTo>
                      <a:pt x="1091118" y="81280"/>
                      <a:pt x="1011108" y="0"/>
                      <a:pt x="91077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10778" y="360680"/>
                    </a:lnTo>
                    <a:cubicBezTo>
                      <a:pt x="1009838" y="360680"/>
                      <a:pt x="1091118" y="279400"/>
                      <a:pt x="1091118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</p:grpSp>
      <p:sp>
        <p:nvSpPr>
          <p:cNvPr id="12" name="TextBox 12"/>
          <p:cNvSpPr txBox="1"/>
          <p:nvPr/>
        </p:nvSpPr>
        <p:spPr>
          <a:xfrm>
            <a:off x="1712593" y="326569"/>
            <a:ext cx="4673811" cy="14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48"/>
              </a:lnSpc>
            </a:pPr>
            <a:r>
              <a:rPr lang="en-US" sz="5134" spc="-205">
                <a:solidFill>
                  <a:srgbClr val="1D1D1D"/>
                </a:solidFill>
                <a:latin typeface="Bodoni FLF"/>
              </a:rPr>
              <a:t>Using </a:t>
            </a:r>
          </a:p>
          <a:p>
            <a:pPr>
              <a:lnSpc>
                <a:spcPts val="5648"/>
              </a:lnSpc>
            </a:pPr>
            <a:r>
              <a:rPr lang="en-US" sz="5134" spc="-205">
                <a:solidFill>
                  <a:srgbClr val="1D1D1D"/>
                </a:solidFill>
                <a:latin typeface="Bodoni FLF"/>
              </a:rPr>
              <a:t>Logistic Regression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46916" y="2178245"/>
            <a:ext cx="6859768" cy="3231394"/>
            <a:chOff x="0" y="0"/>
            <a:chExt cx="9146358" cy="43085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46358" cy="940323"/>
            </a:xfrm>
            <a:custGeom>
              <a:avLst/>
              <a:gdLst/>
              <a:ahLst/>
              <a:cxnLst/>
              <a:rect l="l" t="t" r="r" b="b"/>
              <a:pathLst>
                <a:path w="9146358" h="940323">
                  <a:moveTo>
                    <a:pt x="0" y="0"/>
                  </a:moveTo>
                  <a:lnTo>
                    <a:pt x="9146358" y="0"/>
                  </a:lnTo>
                  <a:lnTo>
                    <a:pt x="9146358" y="940323"/>
                  </a:lnTo>
                  <a:lnTo>
                    <a:pt x="0" y="940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6248" b="-330885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1740480"/>
              <a:ext cx="9146358" cy="729161"/>
            </a:xfrm>
            <a:custGeom>
              <a:avLst/>
              <a:gdLst/>
              <a:ahLst/>
              <a:cxnLst/>
              <a:rect l="l" t="t" r="r" b="b"/>
              <a:pathLst>
                <a:path w="9146358" h="729161">
                  <a:moveTo>
                    <a:pt x="0" y="0"/>
                  </a:moveTo>
                  <a:lnTo>
                    <a:pt x="9146358" y="0"/>
                  </a:lnTo>
                  <a:lnTo>
                    <a:pt x="9146358" y="729161"/>
                  </a:lnTo>
                  <a:lnTo>
                    <a:pt x="0" y="729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427385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2469641"/>
              <a:ext cx="9146358" cy="729161"/>
            </a:xfrm>
            <a:custGeom>
              <a:avLst/>
              <a:gdLst/>
              <a:ahLst/>
              <a:cxnLst/>
              <a:rect l="l" t="t" r="r" b="b"/>
              <a:pathLst>
                <a:path w="9146358" h="729161">
                  <a:moveTo>
                    <a:pt x="0" y="0"/>
                  </a:moveTo>
                  <a:lnTo>
                    <a:pt x="9146358" y="0"/>
                  </a:lnTo>
                  <a:lnTo>
                    <a:pt x="9146358" y="729160"/>
                  </a:lnTo>
                  <a:lnTo>
                    <a:pt x="0" y="729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86161" b="-241223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0" y="3198801"/>
              <a:ext cx="9146358" cy="1109725"/>
            </a:xfrm>
            <a:custGeom>
              <a:avLst/>
              <a:gdLst/>
              <a:ahLst/>
              <a:cxnLst/>
              <a:rect l="l" t="t" r="r" b="b"/>
              <a:pathLst>
                <a:path w="9146358" h="1109725">
                  <a:moveTo>
                    <a:pt x="0" y="0"/>
                  </a:moveTo>
                  <a:lnTo>
                    <a:pt x="9146358" y="0"/>
                  </a:lnTo>
                  <a:lnTo>
                    <a:pt x="9146358" y="1109725"/>
                  </a:lnTo>
                  <a:lnTo>
                    <a:pt x="0" y="1109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4652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490967" y="921273"/>
              <a:ext cx="8164425" cy="819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85"/>
                </a:lnSpc>
              </a:pPr>
              <a:r>
                <a:rPr lang="en-US" sz="1911" spc="38">
                  <a:solidFill>
                    <a:srgbClr val="1D1D1D"/>
                  </a:solidFill>
                  <a:latin typeface="Montserrat"/>
                </a:rPr>
                <a:t>Normalize the inputs, and test performance by using cross validation.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66622" y="5752467"/>
            <a:ext cx="6640062" cy="1252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2799" lvl="1" indent="-206399" algn="just">
              <a:lnSpc>
                <a:spcPts val="2485"/>
              </a:lnSpc>
              <a:buFont typeface="Arial"/>
              <a:buChar char="•"/>
            </a:pPr>
            <a:r>
              <a:rPr lang="en-US" sz="1911" spc="38">
                <a:solidFill>
                  <a:srgbClr val="1D1D1D"/>
                </a:solidFill>
                <a:latin typeface="Montserrat"/>
              </a:rPr>
              <a:t>Easy to implement,  and </a:t>
            </a: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efficient to train</a:t>
            </a:r>
            <a:r>
              <a:rPr lang="en-US" sz="1911" spc="38">
                <a:solidFill>
                  <a:srgbClr val="FFDE59"/>
                </a:solidFill>
                <a:latin typeface="Montserrat"/>
              </a:rPr>
              <a:t>.</a:t>
            </a:r>
          </a:p>
          <a:p>
            <a:pPr marL="412799" lvl="1" indent="-206399" algn="just">
              <a:lnSpc>
                <a:spcPts val="2485"/>
              </a:lnSpc>
              <a:buFont typeface="Arial"/>
              <a:buChar char="•"/>
            </a:pP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Fast</a:t>
            </a:r>
            <a:r>
              <a:rPr lang="en-US" sz="1911" spc="38">
                <a:solidFill>
                  <a:srgbClr val="1D1D1D"/>
                </a:solidFill>
                <a:latin typeface="Montserrat"/>
              </a:rPr>
              <a:t> at classifying unknown data.</a:t>
            </a:r>
          </a:p>
          <a:p>
            <a:pPr marL="412799" lvl="1" indent="-206399" algn="just">
              <a:lnSpc>
                <a:spcPts val="2485"/>
              </a:lnSpc>
              <a:buFont typeface="Arial"/>
              <a:buChar char="•"/>
            </a:pPr>
            <a:r>
              <a:rPr lang="en-US" sz="1911" spc="38">
                <a:solidFill>
                  <a:srgbClr val="1D1D1D"/>
                </a:solidFill>
                <a:latin typeface="Montserrat"/>
              </a:rPr>
              <a:t>Can </a:t>
            </a: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extend to multiple classes</a:t>
            </a:r>
            <a:r>
              <a:rPr lang="en-US" sz="1911" spc="38">
                <a:solidFill>
                  <a:srgbClr val="1D1D1D"/>
                </a:solidFill>
                <a:latin typeface="Montserrat"/>
              </a:rPr>
              <a:t> and a natural probabilistic view of class predictions.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86215" y="3150979"/>
            <a:ext cx="5451896" cy="6456663"/>
            <a:chOff x="0" y="0"/>
            <a:chExt cx="7269194" cy="8608884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1277856" y="1812039"/>
              <a:ext cx="6072254" cy="2286344"/>
              <a:chOff x="0" y="0"/>
              <a:chExt cx="1079350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1053950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53950" h="360680">
                    <a:moveTo>
                      <a:pt x="1053950" y="180340"/>
                    </a:moveTo>
                    <a:cubicBezTo>
                      <a:pt x="1053950" y="81280"/>
                      <a:pt x="973940" y="0"/>
                      <a:pt x="873610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73610" y="360680"/>
                    </a:lnTo>
                    <a:cubicBezTo>
                      <a:pt x="972670" y="360680"/>
                      <a:pt x="1053950" y="279400"/>
                      <a:pt x="1053950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-149552" y="4344800"/>
              <a:ext cx="6540930" cy="2286344"/>
              <a:chOff x="0" y="0"/>
              <a:chExt cx="1162657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780" y="22860"/>
                <a:ext cx="1137257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137257" h="360680">
                    <a:moveTo>
                      <a:pt x="1137257" y="180340"/>
                    </a:moveTo>
                    <a:cubicBezTo>
                      <a:pt x="1137257" y="81280"/>
                      <a:pt x="1057248" y="0"/>
                      <a:pt x="956917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56917" y="360680"/>
                    </a:lnTo>
                    <a:cubicBezTo>
                      <a:pt x="1055977" y="360680"/>
                      <a:pt x="1137257" y="279400"/>
                      <a:pt x="1137257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8179977" y="-738586"/>
            <a:ext cx="2049966" cy="2551669"/>
            <a:chOff x="0" y="0"/>
            <a:chExt cx="2733288" cy="3402226"/>
          </a:xfrm>
        </p:grpSpPr>
        <p:grpSp>
          <p:nvGrpSpPr>
            <p:cNvPr id="8" name="Group 8"/>
            <p:cNvGrpSpPr/>
            <p:nvPr/>
          </p:nvGrpSpPr>
          <p:grpSpPr>
            <a:xfrm rot="-2700000">
              <a:off x="16409" y="1541579"/>
              <a:ext cx="2575327" cy="1113148"/>
              <a:chOff x="0" y="0"/>
              <a:chExt cx="940228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7780" y="22860"/>
                <a:ext cx="914828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914828" h="360680">
                    <a:moveTo>
                      <a:pt x="914828" y="180340"/>
                    </a:moveTo>
                    <a:cubicBezTo>
                      <a:pt x="914828" y="81280"/>
                      <a:pt x="834819" y="0"/>
                      <a:pt x="73448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734488" y="360680"/>
                    </a:lnTo>
                    <a:cubicBezTo>
                      <a:pt x="833548" y="360680"/>
                      <a:pt x="914828" y="279400"/>
                      <a:pt x="914828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315874" y="675292"/>
              <a:ext cx="2371096" cy="1113148"/>
              <a:chOff x="0" y="0"/>
              <a:chExt cx="865665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780" y="22860"/>
                <a:ext cx="840266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840266" h="360680">
                    <a:moveTo>
                      <a:pt x="840266" y="180340"/>
                    </a:moveTo>
                    <a:cubicBezTo>
                      <a:pt x="840266" y="81280"/>
                      <a:pt x="760256" y="0"/>
                      <a:pt x="659925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659925" y="360680"/>
                    </a:lnTo>
                    <a:cubicBezTo>
                      <a:pt x="758985" y="360680"/>
                      <a:pt x="840266" y="279400"/>
                      <a:pt x="840266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</p:grpSp>
      <p:sp>
        <p:nvSpPr>
          <p:cNvPr id="12" name="TextBox 12"/>
          <p:cNvSpPr txBox="1"/>
          <p:nvPr/>
        </p:nvSpPr>
        <p:spPr>
          <a:xfrm>
            <a:off x="1288207" y="341725"/>
            <a:ext cx="4673811" cy="779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48"/>
              </a:lnSpc>
            </a:pPr>
            <a:r>
              <a:rPr lang="en-US" sz="5134" spc="-205">
                <a:solidFill>
                  <a:srgbClr val="1D1D1D"/>
                </a:solidFill>
                <a:latin typeface="Bodoni FLF"/>
              </a:rPr>
              <a:t>Using KNN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88207" y="2119371"/>
            <a:ext cx="7177185" cy="5195829"/>
            <a:chOff x="0" y="0"/>
            <a:chExt cx="9569580" cy="6927772"/>
          </a:xfrm>
        </p:grpSpPr>
        <p:sp>
          <p:nvSpPr>
            <p:cNvPr id="14" name="Freeform 14"/>
            <p:cNvSpPr/>
            <p:nvPr/>
          </p:nvSpPr>
          <p:spPr>
            <a:xfrm>
              <a:off x="0" y="3398070"/>
              <a:ext cx="9569580" cy="2691444"/>
            </a:xfrm>
            <a:custGeom>
              <a:avLst/>
              <a:gdLst/>
              <a:ahLst/>
              <a:cxnLst/>
              <a:rect l="l" t="t" r="r" b="b"/>
              <a:pathLst>
                <a:path w="9569580" h="2691444">
                  <a:moveTo>
                    <a:pt x="0" y="0"/>
                  </a:moveTo>
                  <a:lnTo>
                    <a:pt x="9569580" y="0"/>
                  </a:lnTo>
                  <a:lnTo>
                    <a:pt x="9569580" y="2691445"/>
                  </a:lnTo>
                  <a:lnTo>
                    <a:pt x="0" y="2691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9999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9569580" cy="2147089"/>
            </a:xfrm>
            <a:custGeom>
              <a:avLst/>
              <a:gdLst/>
              <a:ahLst/>
              <a:cxnLst/>
              <a:rect l="l" t="t" r="r" b="b"/>
              <a:pathLst>
                <a:path w="9569580" h="2147089">
                  <a:moveTo>
                    <a:pt x="0" y="0"/>
                  </a:moveTo>
                  <a:lnTo>
                    <a:pt x="9569580" y="0"/>
                  </a:lnTo>
                  <a:lnTo>
                    <a:pt x="9569580" y="2147089"/>
                  </a:lnTo>
                  <a:lnTo>
                    <a:pt x="0" y="2147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3266" b="-9743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702578" y="2162596"/>
              <a:ext cx="8164425" cy="1235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85"/>
                </a:lnSpc>
              </a:pPr>
              <a:r>
                <a:rPr lang="en-US" sz="1911" spc="38">
                  <a:solidFill>
                    <a:srgbClr val="1D1D1D"/>
                  </a:solidFill>
                  <a:latin typeface="Montserrat"/>
                </a:rPr>
                <a:t>Normalize the inputs, and chooses higher K value (K&gt;20) to avoid overfitting and gives smoother behavior.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2578" y="6108565"/>
              <a:ext cx="8164425" cy="819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85"/>
                </a:lnSpc>
              </a:pPr>
              <a:r>
                <a:rPr lang="en-US" sz="1911" spc="38">
                  <a:solidFill>
                    <a:srgbClr val="1D1D1D"/>
                  </a:solidFill>
                  <a:latin typeface="Montserrat"/>
                </a:rPr>
                <a:t>Can see that it gives higher score , when using cross-validation to check for performance.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39596" y="1177525"/>
            <a:ext cx="6640062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2799" lvl="1" indent="-206399" algn="just">
              <a:lnSpc>
                <a:spcPts val="2485"/>
              </a:lnSpc>
              <a:buFont typeface="Arial"/>
              <a:buChar char="•"/>
            </a:pPr>
            <a:r>
              <a:rPr lang="en-US" sz="1911" spc="38" dirty="0">
                <a:solidFill>
                  <a:srgbClr val="1D1D1D"/>
                </a:solidFill>
                <a:latin typeface="Montserrat"/>
              </a:rPr>
              <a:t>It’s a non-parametric approach, thus no assumptions on the boundary </a:t>
            </a:r>
            <a:r>
              <a:rPr lang="en-US" sz="1911" u="sng" spc="38" dirty="0" smtClean="0">
                <a:solidFill>
                  <a:srgbClr val="FFDE59"/>
                </a:solidFill>
                <a:latin typeface="Montserrat Bold Italics"/>
              </a:rPr>
              <a:t>works well </a:t>
            </a:r>
            <a:r>
              <a:rPr lang="en-US" sz="1911" u="sng" spc="38" dirty="0">
                <a:solidFill>
                  <a:srgbClr val="FFDE59"/>
                </a:solidFill>
                <a:latin typeface="Montserrat Bold Italics"/>
              </a:rPr>
              <a:t>when boundary </a:t>
            </a:r>
            <a:r>
              <a:rPr lang="en-US" sz="1911" u="sng" spc="38" dirty="0" smtClean="0">
                <a:solidFill>
                  <a:srgbClr val="FFDE59"/>
                </a:solidFill>
                <a:latin typeface="Montserrat Bold Italics"/>
              </a:rPr>
              <a:t>highly non-linear</a:t>
            </a:r>
            <a:r>
              <a:rPr lang="en-US" sz="1911" spc="38" dirty="0" smtClean="0">
                <a:solidFill>
                  <a:srgbClr val="FFDE59"/>
                </a:solidFill>
                <a:latin typeface="Montserrat"/>
              </a:rPr>
              <a:t>.</a:t>
            </a:r>
            <a:endParaRPr lang="en-US" sz="1911" spc="38" dirty="0">
              <a:solidFill>
                <a:srgbClr val="FFDE59"/>
              </a:solidFill>
              <a:latin typeface="Montserrat"/>
            </a:endParaRPr>
          </a:p>
          <a:p>
            <a:pPr algn="just">
              <a:lnSpc>
                <a:spcPts val="2485"/>
              </a:lnSpc>
            </a:pPr>
            <a:endParaRPr lang="en-US" sz="1911" spc="38" dirty="0">
              <a:solidFill>
                <a:srgbClr val="FFDE59"/>
              </a:solidFill>
              <a:latin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0110" y="-708784"/>
            <a:ext cx="2457499" cy="2880609"/>
            <a:chOff x="0" y="0"/>
            <a:chExt cx="3276666" cy="3840812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48467" y="1055171"/>
              <a:ext cx="3383271" cy="962784"/>
              <a:chOff x="0" y="0"/>
              <a:chExt cx="1428111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1402711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402711" h="360680">
                    <a:moveTo>
                      <a:pt x="1402711" y="180340"/>
                    </a:moveTo>
                    <a:cubicBezTo>
                      <a:pt x="1402711" y="81280"/>
                      <a:pt x="1322701" y="0"/>
                      <a:pt x="1222371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22371" y="360680"/>
                    </a:lnTo>
                    <a:cubicBezTo>
                      <a:pt x="1321431" y="360680"/>
                      <a:pt x="1402711" y="279400"/>
                      <a:pt x="1402711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-135923" y="1869091"/>
              <a:ext cx="3252503" cy="962784"/>
              <a:chOff x="0" y="0"/>
              <a:chExt cx="1372912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780" y="22860"/>
                <a:ext cx="1347512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347512" h="360680">
                    <a:moveTo>
                      <a:pt x="1347512" y="180340"/>
                    </a:moveTo>
                    <a:cubicBezTo>
                      <a:pt x="1347512" y="81280"/>
                      <a:pt x="1267502" y="0"/>
                      <a:pt x="116717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67172" y="360680"/>
                    </a:lnTo>
                    <a:cubicBezTo>
                      <a:pt x="1266232" y="360680"/>
                      <a:pt x="1347512" y="279400"/>
                      <a:pt x="1347512" y="18034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4251991" y="1811001"/>
            <a:ext cx="7362221" cy="8582653"/>
            <a:chOff x="0" y="0"/>
            <a:chExt cx="9816294" cy="11443538"/>
          </a:xfrm>
        </p:grpSpPr>
        <p:grpSp>
          <p:nvGrpSpPr>
            <p:cNvPr id="8" name="Group 8"/>
            <p:cNvGrpSpPr/>
            <p:nvPr/>
          </p:nvGrpSpPr>
          <p:grpSpPr>
            <a:xfrm rot="-2700000">
              <a:off x="333376" y="3114563"/>
              <a:ext cx="9959622" cy="2777089"/>
              <a:chOff x="0" y="0"/>
              <a:chExt cx="1457494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7780" y="22860"/>
                <a:ext cx="1432094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432094" h="360680">
                    <a:moveTo>
                      <a:pt x="1432094" y="180340"/>
                    </a:moveTo>
                    <a:cubicBezTo>
                      <a:pt x="1432094" y="81280"/>
                      <a:pt x="1352084" y="0"/>
                      <a:pt x="1251754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251754" y="360680"/>
                    </a:lnTo>
                    <a:cubicBezTo>
                      <a:pt x="1350814" y="360680"/>
                      <a:pt x="1432094" y="279400"/>
                      <a:pt x="1432094" y="180340"/>
                    </a:cubicBezTo>
                    <a:close/>
                  </a:path>
                </a:pathLst>
              </a:custGeom>
              <a:solidFill>
                <a:srgbClr val="FFFFFF">
                  <a:alpha val="14902"/>
                </a:srgbClr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-401998" y="5732241"/>
              <a:ext cx="9449500" cy="2777089"/>
              <a:chOff x="0" y="0"/>
              <a:chExt cx="1382842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780" y="22860"/>
                <a:ext cx="1357443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357443" h="360680">
                    <a:moveTo>
                      <a:pt x="1357443" y="180340"/>
                    </a:moveTo>
                    <a:cubicBezTo>
                      <a:pt x="1357443" y="81280"/>
                      <a:pt x="1277433" y="0"/>
                      <a:pt x="1177102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1177102" y="360680"/>
                    </a:lnTo>
                    <a:cubicBezTo>
                      <a:pt x="1276162" y="360680"/>
                      <a:pt x="1357443" y="279400"/>
                      <a:pt x="1357443" y="180340"/>
                    </a:cubicBezTo>
                    <a:close/>
                  </a:path>
                </a:pathLst>
              </a:custGeom>
              <a:solidFill>
                <a:srgbClr val="947F57">
                  <a:alpha val="14902"/>
                </a:srgbClr>
              </a:solidFill>
            </p:spPr>
          </p:sp>
        </p:grpSp>
      </p:grpSp>
      <p:sp>
        <p:nvSpPr>
          <p:cNvPr id="12" name="AutoShape 12"/>
          <p:cNvSpPr/>
          <p:nvPr/>
        </p:nvSpPr>
        <p:spPr>
          <a:xfrm>
            <a:off x="5170176" y="0"/>
            <a:ext cx="20320" cy="5080000"/>
          </a:xfrm>
          <a:prstGeom prst="rect">
            <a:avLst/>
          </a:prstGeom>
          <a:solidFill>
            <a:srgbClr val="947F57"/>
          </a:solidFill>
        </p:spPr>
      </p:sp>
      <p:sp>
        <p:nvSpPr>
          <p:cNvPr id="13" name="Freeform 13"/>
          <p:cNvSpPr/>
          <p:nvPr/>
        </p:nvSpPr>
        <p:spPr>
          <a:xfrm>
            <a:off x="1609304" y="3565894"/>
            <a:ext cx="7162382" cy="1664682"/>
          </a:xfrm>
          <a:custGeom>
            <a:avLst/>
            <a:gdLst/>
            <a:ahLst/>
            <a:cxnLst/>
            <a:rect l="l" t="t" r="r" b="b"/>
            <a:pathLst>
              <a:path w="7162382" h="1664682">
                <a:moveTo>
                  <a:pt x="0" y="0"/>
                </a:moveTo>
                <a:lnTo>
                  <a:pt x="7162383" y="0"/>
                </a:lnTo>
                <a:lnTo>
                  <a:pt x="7162383" y="1664681"/>
                </a:lnTo>
                <a:lnTo>
                  <a:pt x="0" y="1664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7847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77390" y="317037"/>
            <a:ext cx="4673811" cy="14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48"/>
              </a:lnSpc>
            </a:pPr>
            <a:r>
              <a:rPr lang="en-US" sz="5134" spc="-205">
                <a:solidFill>
                  <a:srgbClr val="FFFFFF"/>
                </a:solidFill>
                <a:latin typeface="Bodoni FLF"/>
              </a:rPr>
              <a:t>Using</a:t>
            </a:r>
          </a:p>
          <a:p>
            <a:pPr>
              <a:lnSpc>
                <a:spcPts val="5648"/>
              </a:lnSpc>
            </a:pPr>
            <a:r>
              <a:rPr lang="en-US" sz="5134" spc="-205">
                <a:solidFill>
                  <a:srgbClr val="FFFFFF"/>
                </a:solidFill>
                <a:latin typeface="Bodoni FLF"/>
              </a:rPr>
              <a:t>Voting Classifier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8984" y="1887201"/>
            <a:ext cx="7162382" cy="1566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2799" lvl="1" indent="-206399" algn="just">
              <a:lnSpc>
                <a:spcPts val="2485"/>
              </a:lnSpc>
              <a:buFont typeface="Arial"/>
              <a:buChar char="•"/>
            </a:pP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Combine</a:t>
            </a:r>
            <a:r>
              <a:rPr lang="en-US" sz="1911" spc="38">
                <a:solidFill>
                  <a:srgbClr val="FFFFFF"/>
                </a:solidFill>
                <a:latin typeface="Montserrat"/>
              </a:rPr>
              <a:t> the </a:t>
            </a: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strengths</a:t>
            </a:r>
            <a:r>
              <a:rPr lang="en-US" sz="1911" spc="38">
                <a:solidFill>
                  <a:srgbClr val="FFFFFF"/>
                </a:solidFill>
                <a:latin typeface="Montserrat"/>
              </a:rPr>
              <a:t> of multiple models and </a:t>
            </a: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reduce</a:t>
            </a:r>
            <a:r>
              <a:rPr lang="en-US" sz="1911" spc="38">
                <a:solidFill>
                  <a:srgbClr val="FFFFFF"/>
                </a:solidFill>
                <a:latin typeface="Montserrat"/>
              </a:rPr>
              <a:t> the impact of individual </a:t>
            </a: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weaknesses.</a:t>
            </a:r>
          </a:p>
          <a:p>
            <a:pPr marL="412799" lvl="1" indent="-206399" algn="just">
              <a:lnSpc>
                <a:spcPts val="2485"/>
              </a:lnSpc>
              <a:buFont typeface="Arial"/>
              <a:buChar char="•"/>
            </a:pP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Improve accuracy</a:t>
            </a:r>
            <a:r>
              <a:rPr lang="en-US" sz="1911" spc="38">
                <a:solidFill>
                  <a:srgbClr val="FFFFFF"/>
                </a:solidFill>
                <a:latin typeface="Montserrat"/>
              </a:rPr>
              <a:t> by using different models.</a:t>
            </a:r>
          </a:p>
          <a:p>
            <a:pPr marL="412799" lvl="1" indent="-206399" algn="just">
              <a:lnSpc>
                <a:spcPts val="2485"/>
              </a:lnSpc>
              <a:buFont typeface="Arial"/>
              <a:buChar char="•"/>
            </a:pPr>
            <a:r>
              <a:rPr lang="en-US" sz="1911" u="sng" spc="38">
                <a:solidFill>
                  <a:srgbClr val="FFDE59"/>
                </a:solidFill>
                <a:latin typeface="Montserrat Bold Italics"/>
              </a:rPr>
              <a:t>Won’t be easily affected to changes</a:t>
            </a:r>
            <a:r>
              <a:rPr lang="en-US" sz="1911" spc="38">
                <a:solidFill>
                  <a:srgbClr val="FFFFFF"/>
                </a:solidFill>
                <a:latin typeface="Montserrat"/>
              </a:rPr>
              <a:t>, since errors can be cancelled out by other models.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3256" y="6091281"/>
            <a:ext cx="6614478" cy="124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85"/>
              </a:lnSpc>
            </a:pPr>
            <a:r>
              <a:rPr lang="en-US" sz="1911" spc="38">
                <a:solidFill>
                  <a:srgbClr val="E8E8E8"/>
                </a:solidFill>
                <a:latin typeface="Montserrat"/>
              </a:rPr>
              <a:t>To conclude, to me, the best way is to use voting classifier to combine strength of multiple models, and choose the suitable models according to demand and the data situation.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99144" y="5230575"/>
            <a:ext cx="7162382" cy="879755"/>
          </a:xfrm>
          <a:custGeom>
            <a:avLst/>
            <a:gdLst/>
            <a:ahLst/>
            <a:cxnLst/>
            <a:rect l="l" t="t" r="r" b="b"/>
            <a:pathLst>
              <a:path w="7162382" h="879755">
                <a:moveTo>
                  <a:pt x="0" y="0"/>
                </a:moveTo>
                <a:lnTo>
                  <a:pt x="7162383" y="0"/>
                </a:lnTo>
                <a:lnTo>
                  <a:pt x="7162383" y="879756"/>
                </a:lnTo>
                <a:lnTo>
                  <a:pt x="0" y="879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7714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89940" y="3657600"/>
            <a:ext cx="3502697" cy="4227834"/>
            <a:chOff x="0" y="0"/>
            <a:chExt cx="4670263" cy="5637112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-80497" y="2625971"/>
              <a:ext cx="4533230" cy="1650045"/>
              <a:chOff x="0" y="0"/>
              <a:chExt cx="1116518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1091118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91118" h="360680">
                    <a:moveTo>
                      <a:pt x="1091118" y="180340"/>
                    </a:moveTo>
                    <a:cubicBezTo>
                      <a:pt x="1091118" y="81280"/>
                      <a:pt x="1011108" y="0"/>
                      <a:pt x="91077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10778" y="360680"/>
                    </a:lnTo>
                    <a:cubicBezTo>
                      <a:pt x="1009838" y="360680"/>
                      <a:pt x="1091118" y="279400"/>
                      <a:pt x="1091118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301647" y="1326253"/>
              <a:ext cx="4434681" cy="1650045"/>
              <a:chOff x="0" y="0"/>
              <a:chExt cx="1092245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780" y="22860"/>
                <a:ext cx="1066845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66845" h="360680">
                    <a:moveTo>
                      <a:pt x="1066845" y="180340"/>
                    </a:moveTo>
                    <a:cubicBezTo>
                      <a:pt x="1066845" y="81280"/>
                      <a:pt x="986836" y="0"/>
                      <a:pt x="886505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86505" y="360680"/>
                    </a:lnTo>
                    <a:cubicBezTo>
                      <a:pt x="985565" y="360680"/>
                      <a:pt x="1066845" y="279400"/>
                      <a:pt x="1066845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-1464109" y="-570234"/>
            <a:ext cx="3502697" cy="4227834"/>
            <a:chOff x="0" y="0"/>
            <a:chExt cx="4670263" cy="5637112"/>
          </a:xfrm>
        </p:grpSpPr>
        <p:grpSp>
          <p:nvGrpSpPr>
            <p:cNvPr id="8" name="Group 8"/>
            <p:cNvGrpSpPr/>
            <p:nvPr/>
          </p:nvGrpSpPr>
          <p:grpSpPr>
            <a:xfrm rot="-2700000">
              <a:off x="301647" y="1326253"/>
              <a:ext cx="4434681" cy="1650045"/>
              <a:chOff x="0" y="0"/>
              <a:chExt cx="1092245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7780" y="22860"/>
                <a:ext cx="1066845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66845" h="360680">
                    <a:moveTo>
                      <a:pt x="1066845" y="180340"/>
                    </a:moveTo>
                    <a:cubicBezTo>
                      <a:pt x="1066845" y="81280"/>
                      <a:pt x="986836" y="0"/>
                      <a:pt x="886505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86505" y="360680"/>
                    </a:lnTo>
                    <a:cubicBezTo>
                      <a:pt x="985565" y="360680"/>
                      <a:pt x="1066845" y="279400"/>
                      <a:pt x="1066845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-80497" y="2625971"/>
              <a:ext cx="4533230" cy="1650045"/>
              <a:chOff x="0" y="0"/>
              <a:chExt cx="1116518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780" y="22860"/>
                <a:ext cx="1091118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91118" h="360680">
                    <a:moveTo>
                      <a:pt x="1091118" y="180340"/>
                    </a:moveTo>
                    <a:cubicBezTo>
                      <a:pt x="1091118" y="81280"/>
                      <a:pt x="1011108" y="0"/>
                      <a:pt x="91077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10778" y="360680"/>
                    </a:lnTo>
                    <a:cubicBezTo>
                      <a:pt x="1009838" y="360680"/>
                      <a:pt x="1091118" y="279400"/>
                      <a:pt x="1091118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</p:grpSp>
      <p:sp>
        <p:nvSpPr>
          <p:cNvPr id="12" name="TextBox 12"/>
          <p:cNvSpPr txBox="1"/>
          <p:nvPr/>
        </p:nvSpPr>
        <p:spPr>
          <a:xfrm>
            <a:off x="1712593" y="326569"/>
            <a:ext cx="5145407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48"/>
              </a:lnSpc>
            </a:pPr>
            <a:r>
              <a:rPr lang="en-US" sz="5134" spc="-205" dirty="0" smtClean="0">
                <a:solidFill>
                  <a:srgbClr val="1D1D1D"/>
                </a:solidFill>
                <a:latin typeface="Bodoni FLF"/>
              </a:rPr>
              <a:t>Motivation of Parameters(Updated)</a:t>
            </a:r>
            <a:endParaRPr lang="en-US" sz="5134" spc="-205" dirty="0">
              <a:solidFill>
                <a:srgbClr val="1D1D1D"/>
              </a:solidFill>
              <a:latin typeface="Bodoni FLF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88300" y="5285785"/>
            <a:ext cx="6640062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2799" lvl="1" indent="-206399">
              <a:lnSpc>
                <a:spcPts val="2485"/>
              </a:lnSpc>
              <a:buFont typeface="Arial"/>
              <a:buChar char="•"/>
            </a:pPr>
            <a:r>
              <a:rPr lang="en-US" sz="1911" spc="38" dirty="0" smtClean="0">
                <a:solidFill>
                  <a:srgbClr val="1D1D1D"/>
                </a:solidFill>
                <a:latin typeface="Montserrat"/>
              </a:rPr>
              <a:t>By tweaking the C </a:t>
            </a:r>
            <a:r>
              <a:rPr lang="en-US" sz="1911" spc="38" dirty="0" smtClean="0">
                <a:solidFill>
                  <a:srgbClr val="1D1D1D"/>
                </a:solidFill>
                <a:latin typeface="Montserrat"/>
              </a:rPr>
              <a:t>parameter,  </a:t>
            </a:r>
            <a:r>
              <a:rPr lang="en-US" sz="1911" spc="38" dirty="0">
                <a:solidFill>
                  <a:srgbClr val="1D1D1D"/>
                </a:solidFill>
                <a:latin typeface="Montserrat"/>
              </a:rPr>
              <a:t>the Inverse of regularization </a:t>
            </a:r>
            <a:r>
              <a:rPr lang="en-US" sz="1911" spc="38" dirty="0" smtClean="0">
                <a:solidFill>
                  <a:srgbClr val="1D1D1D"/>
                </a:solidFill>
                <a:latin typeface="Montserrat"/>
              </a:rPr>
              <a:t>strength</a:t>
            </a:r>
            <a:r>
              <a:rPr lang="en-US" sz="1911" u="sng" spc="38" dirty="0" smtClean="0">
                <a:latin typeface="Montserrat Bold Italics"/>
              </a:rPr>
              <a:t>(2</a:t>
            </a:r>
            <a:r>
              <a:rPr lang="en-US" sz="1911" u="sng" spc="38" dirty="0" smtClean="0">
                <a:latin typeface="Montserrat Bold Italics"/>
                <a:sym typeface="Wingdings" panose="05000000000000000000" pitchFamily="2" charset="2"/>
              </a:rPr>
              <a:t>10</a:t>
            </a:r>
            <a:r>
              <a:rPr lang="en-US" sz="1911" u="sng" spc="38" dirty="0" smtClean="0">
                <a:latin typeface="Montserrat Bold Italics"/>
              </a:rPr>
              <a:t>)</a:t>
            </a:r>
            <a:r>
              <a:rPr lang="en-US" sz="1911" spc="38" dirty="0" smtClean="0">
                <a:solidFill>
                  <a:srgbClr val="1D1D1D"/>
                </a:solidFill>
                <a:latin typeface="Montserrat"/>
              </a:rPr>
              <a:t> in </a:t>
            </a:r>
            <a:r>
              <a:rPr lang="en-US" sz="1911" b="1" i="1" u="sng" spc="38" dirty="0" smtClean="0">
                <a:solidFill>
                  <a:srgbClr val="1D1D1D"/>
                </a:solidFill>
                <a:latin typeface="Montserrat"/>
              </a:rPr>
              <a:t>Logistic regression</a:t>
            </a:r>
            <a:r>
              <a:rPr lang="en-US" sz="1911" spc="38" dirty="0" smtClean="0">
                <a:solidFill>
                  <a:srgbClr val="1D1D1D"/>
                </a:solidFill>
                <a:latin typeface="Montserrat"/>
              </a:rPr>
              <a:t> we see a rise in cross-validation from </a:t>
            </a:r>
            <a:r>
              <a:rPr lang="en-US" sz="1911" u="sng" spc="38" dirty="0" smtClean="0">
                <a:solidFill>
                  <a:srgbClr val="FFDE59"/>
                </a:solidFill>
                <a:latin typeface="Montserrat Bold Italics"/>
              </a:rPr>
              <a:t>(0.80666</a:t>
            </a:r>
            <a:r>
              <a:rPr lang="en-US" sz="1911" u="sng" spc="38" dirty="0" smtClean="0">
                <a:solidFill>
                  <a:srgbClr val="FFDE59"/>
                </a:solidFill>
                <a:latin typeface="Montserrat Bold Italics"/>
                <a:sym typeface="Wingdings" panose="05000000000000000000" pitchFamily="2" charset="2"/>
              </a:rPr>
              <a:t>0.81666</a:t>
            </a:r>
            <a:r>
              <a:rPr lang="en-US" sz="1911" u="sng" spc="38" dirty="0" smtClean="0">
                <a:solidFill>
                  <a:srgbClr val="FFDE59"/>
                </a:solidFill>
                <a:latin typeface="Montserrat Bold Italics"/>
              </a:rPr>
              <a:t>).</a:t>
            </a:r>
            <a:r>
              <a:rPr lang="en-US" sz="1911" spc="38" dirty="0">
                <a:latin typeface="Montserrat"/>
              </a:rPr>
              <a:t> </a:t>
            </a:r>
            <a:endParaRPr lang="en-US" sz="1911" u="sng" spc="38" dirty="0" smtClean="0">
              <a:solidFill>
                <a:srgbClr val="FFDE59"/>
              </a:solidFill>
              <a:latin typeface="Montserrat Bold Italics"/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" t="22809" r="10990"/>
          <a:stretch/>
        </p:blipFill>
        <p:spPr>
          <a:xfrm>
            <a:off x="-31705" y="2264684"/>
            <a:ext cx="4953000" cy="2519277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" t="16550"/>
          <a:stretch/>
        </p:blipFill>
        <p:spPr>
          <a:xfrm>
            <a:off x="5003596" y="2518880"/>
            <a:ext cx="4644969" cy="226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89940" y="3657600"/>
            <a:ext cx="3502697" cy="4227834"/>
            <a:chOff x="0" y="0"/>
            <a:chExt cx="4670263" cy="5637112"/>
          </a:xfrm>
        </p:grpSpPr>
        <p:grpSp>
          <p:nvGrpSpPr>
            <p:cNvPr id="3" name="Group 3"/>
            <p:cNvGrpSpPr/>
            <p:nvPr/>
          </p:nvGrpSpPr>
          <p:grpSpPr>
            <a:xfrm rot="-2700000">
              <a:off x="-80497" y="2625971"/>
              <a:ext cx="4533230" cy="1650045"/>
              <a:chOff x="0" y="0"/>
              <a:chExt cx="1116518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7780" y="22860"/>
                <a:ext cx="1091118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91118" h="360680">
                    <a:moveTo>
                      <a:pt x="1091118" y="180340"/>
                    </a:moveTo>
                    <a:cubicBezTo>
                      <a:pt x="1091118" y="81280"/>
                      <a:pt x="1011108" y="0"/>
                      <a:pt x="91077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10778" y="360680"/>
                    </a:lnTo>
                    <a:cubicBezTo>
                      <a:pt x="1009838" y="360680"/>
                      <a:pt x="1091118" y="279400"/>
                      <a:pt x="1091118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 rot="-2700000">
              <a:off x="301647" y="1326253"/>
              <a:ext cx="4434681" cy="1650045"/>
              <a:chOff x="0" y="0"/>
              <a:chExt cx="1092245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7780" y="22860"/>
                <a:ext cx="1066845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66845" h="360680">
                    <a:moveTo>
                      <a:pt x="1066845" y="180340"/>
                    </a:moveTo>
                    <a:cubicBezTo>
                      <a:pt x="1066845" y="81280"/>
                      <a:pt x="986836" y="0"/>
                      <a:pt x="886505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86505" y="360680"/>
                    </a:lnTo>
                    <a:cubicBezTo>
                      <a:pt x="985565" y="360680"/>
                      <a:pt x="1066845" y="279400"/>
                      <a:pt x="1066845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-1464109" y="-570234"/>
            <a:ext cx="3502697" cy="4227834"/>
            <a:chOff x="0" y="0"/>
            <a:chExt cx="4670263" cy="5637112"/>
          </a:xfrm>
        </p:grpSpPr>
        <p:grpSp>
          <p:nvGrpSpPr>
            <p:cNvPr id="8" name="Group 8"/>
            <p:cNvGrpSpPr/>
            <p:nvPr/>
          </p:nvGrpSpPr>
          <p:grpSpPr>
            <a:xfrm rot="-2700000">
              <a:off x="301647" y="1326253"/>
              <a:ext cx="4434681" cy="1650045"/>
              <a:chOff x="0" y="0"/>
              <a:chExt cx="1092245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7780" y="22860"/>
                <a:ext cx="1066845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66845" h="360680">
                    <a:moveTo>
                      <a:pt x="1066845" y="180340"/>
                    </a:moveTo>
                    <a:cubicBezTo>
                      <a:pt x="1066845" y="81280"/>
                      <a:pt x="986836" y="0"/>
                      <a:pt x="886505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886505" y="360680"/>
                    </a:lnTo>
                    <a:cubicBezTo>
                      <a:pt x="985565" y="360680"/>
                      <a:pt x="1066845" y="279400"/>
                      <a:pt x="1066845" y="180340"/>
                    </a:cubicBezTo>
                    <a:close/>
                  </a:path>
                </a:pathLst>
              </a:custGeom>
              <a:solidFill>
                <a:srgbClr val="3D3D3D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 rot="-2700000">
              <a:off x="-80497" y="2625971"/>
              <a:ext cx="4533230" cy="1650045"/>
              <a:chOff x="0" y="0"/>
              <a:chExt cx="1116518" cy="4064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780" y="22860"/>
                <a:ext cx="1091118" cy="360680"/>
              </a:xfrm>
              <a:custGeom>
                <a:avLst/>
                <a:gdLst/>
                <a:ahLst/>
                <a:cxnLst/>
                <a:rect l="l" t="t" r="r" b="b"/>
                <a:pathLst>
                  <a:path w="1091118" h="360680">
                    <a:moveTo>
                      <a:pt x="1091118" y="180340"/>
                    </a:moveTo>
                    <a:cubicBezTo>
                      <a:pt x="1091118" y="81280"/>
                      <a:pt x="1011108" y="0"/>
                      <a:pt x="910778" y="0"/>
                    </a:cubicBezTo>
                    <a:lnTo>
                      <a:pt x="172720" y="0"/>
                    </a:lnTo>
                    <a:lnTo>
                      <a:pt x="172720" y="1270"/>
                    </a:lnTo>
                    <a:cubicBezTo>
                      <a:pt x="76200" y="5080"/>
                      <a:pt x="0" y="83820"/>
                      <a:pt x="0" y="180340"/>
                    </a:cubicBezTo>
                    <a:cubicBezTo>
                      <a:pt x="0" y="276860"/>
                      <a:pt x="77470" y="355600"/>
                      <a:pt x="172720" y="359410"/>
                    </a:cubicBezTo>
                    <a:lnTo>
                      <a:pt x="172720" y="360680"/>
                    </a:lnTo>
                    <a:lnTo>
                      <a:pt x="910778" y="360680"/>
                    </a:lnTo>
                    <a:cubicBezTo>
                      <a:pt x="1009838" y="360680"/>
                      <a:pt x="1091118" y="279400"/>
                      <a:pt x="1091118" y="180340"/>
                    </a:cubicBezTo>
                    <a:close/>
                  </a:path>
                </a:pathLst>
              </a:custGeom>
              <a:solidFill>
                <a:srgbClr val="947F57"/>
              </a:solidFill>
            </p:spPr>
          </p:sp>
        </p:grpSp>
      </p:grpSp>
      <p:sp>
        <p:nvSpPr>
          <p:cNvPr id="12" name="TextBox 12"/>
          <p:cNvSpPr txBox="1"/>
          <p:nvPr/>
        </p:nvSpPr>
        <p:spPr>
          <a:xfrm>
            <a:off x="1712593" y="326569"/>
            <a:ext cx="5145407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48"/>
              </a:lnSpc>
            </a:pPr>
            <a:r>
              <a:rPr lang="en-US" sz="5134" spc="-205" dirty="0" smtClean="0">
                <a:solidFill>
                  <a:srgbClr val="1D1D1D"/>
                </a:solidFill>
                <a:latin typeface="Bodoni FLF"/>
              </a:rPr>
              <a:t>Motivation of Parameters(Updated)</a:t>
            </a:r>
            <a:endParaRPr lang="en-US" sz="5134" spc="-205" dirty="0">
              <a:solidFill>
                <a:srgbClr val="1D1D1D"/>
              </a:solidFill>
              <a:latin typeface="Bodoni FLF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8" t="19444" r="12500" b="18055"/>
          <a:stretch/>
        </p:blipFill>
        <p:spPr>
          <a:xfrm>
            <a:off x="4921084" y="2267963"/>
            <a:ext cx="4832516" cy="2241889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3" t="18714" r="11725" b="18785"/>
          <a:stretch/>
        </p:blipFill>
        <p:spPr>
          <a:xfrm>
            <a:off x="69883" y="2290840"/>
            <a:ext cx="4832516" cy="2219012"/>
          </a:xfrm>
          <a:prstGeom prst="rect">
            <a:avLst/>
          </a:prstGeom>
        </p:spPr>
      </p:pic>
      <p:sp>
        <p:nvSpPr>
          <p:cNvPr id="16" name="TextBox 19"/>
          <p:cNvSpPr txBox="1"/>
          <p:nvPr/>
        </p:nvSpPr>
        <p:spPr>
          <a:xfrm>
            <a:off x="1388300" y="5285785"/>
            <a:ext cx="6640062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2799" lvl="1" indent="-206399">
              <a:lnSpc>
                <a:spcPts val="2485"/>
              </a:lnSpc>
              <a:buFont typeface="Arial"/>
              <a:buChar char="•"/>
            </a:pPr>
            <a:r>
              <a:rPr lang="en-US" sz="1911" spc="38" dirty="0" smtClean="0">
                <a:solidFill>
                  <a:srgbClr val="1D1D1D"/>
                </a:solidFill>
                <a:latin typeface="Montserrat"/>
              </a:rPr>
              <a:t>By tweaking the </a:t>
            </a:r>
            <a:r>
              <a:rPr lang="en-US" sz="1911" spc="38" dirty="0" err="1" smtClean="0">
                <a:solidFill>
                  <a:srgbClr val="1D1D1D"/>
                </a:solidFill>
                <a:latin typeface="Montserrat"/>
              </a:rPr>
              <a:t>max_depth</a:t>
            </a:r>
            <a:r>
              <a:rPr lang="en-US" sz="1911" spc="38" dirty="0" smtClean="0">
                <a:solidFill>
                  <a:srgbClr val="1D1D1D"/>
                </a:solidFill>
                <a:latin typeface="Montserrat"/>
              </a:rPr>
              <a:t> parameter</a:t>
            </a:r>
            <a:r>
              <a:rPr lang="en-US" sz="1911" u="sng" spc="38" dirty="0" smtClean="0">
                <a:latin typeface="Montserrat Bold Italics"/>
              </a:rPr>
              <a:t>(10</a:t>
            </a:r>
            <a:r>
              <a:rPr lang="en-US" sz="1911" u="sng" spc="38" dirty="0" smtClean="0">
                <a:latin typeface="Montserrat Bold Italics"/>
                <a:sym typeface="Wingdings" panose="05000000000000000000" pitchFamily="2" charset="2"/>
              </a:rPr>
              <a:t>5</a:t>
            </a:r>
            <a:r>
              <a:rPr lang="en-US" sz="1911" u="sng" spc="38" dirty="0" smtClean="0">
                <a:latin typeface="Montserrat Bold Italics"/>
              </a:rPr>
              <a:t>)</a:t>
            </a:r>
            <a:r>
              <a:rPr lang="en-US" sz="1911" spc="38" dirty="0" smtClean="0">
                <a:solidFill>
                  <a:srgbClr val="1D1D1D"/>
                </a:solidFill>
                <a:latin typeface="Montserrat"/>
              </a:rPr>
              <a:t> in </a:t>
            </a:r>
            <a:r>
              <a:rPr lang="en-US" sz="1911" b="1" i="1" u="sng" spc="38" dirty="0" smtClean="0">
                <a:solidFill>
                  <a:srgbClr val="1D1D1D"/>
                </a:solidFill>
                <a:latin typeface="Montserrat"/>
              </a:rPr>
              <a:t>Random Forest</a:t>
            </a:r>
            <a:r>
              <a:rPr lang="en-US" sz="1911" spc="38" dirty="0" smtClean="0">
                <a:solidFill>
                  <a:srgbClr val="1D1D1D"/>
                </a:solidFill>
                <a:latin typeface="Montserrat"/>
              </a:rPr>
              <a:t> we see a rise in cross-validation from </a:t>
            </a:r>
            <a:r>
              <a:rPr lang="en-US" sz="1911" u="sng" spc="38" dirty="0" smtClean="0">
                <a:solidFill>
                  <a:srgbClr val="FFDE59"/>
                </a:solidFill>
                <a:latin typeface="Montserrat Bold Italics"/>
              </a:rPr>
              <a:t>(0.82933</a:t>
            </a:r>
            <a:r>
              <a:rPr lang="en-US" sz="1911" u="sng" spc="38" dirty="0" smtClean="0">
                <a:solidFill>
                  <a:srgbClr val="FFDE59"/>
                </a:solidFill>
                <a:latin typeface="Montserrat Bold Italics"/>
                <a:sym typeface="Wingdings" panose="05000000000000000000" pitchFamily="2" charset="2"/>
              </a:rPr>
              <a:t>0.83333</a:t>
            </a:r>
            <a:r>
              <a:rPr lang="en-US" sz="1911" u="sng" spc="38" dirty="0" smtClean="0">
                <a:solidFill>
                  <a:srgbClr val="FFDE59"/>
                </a:solidFill>
                <a:latin typeface="Montserrat Bold Italics"/>
              </a:rPr>
              <a:t>).</a:t>
            </a:r>
            <a:r>
              <a:rPr lang="en-US" sz="1911" spc="38" dirty="0" smtClean="0">
                <a:latin typeface="Montserrat"/>
              </a:rPr>
              <a:t> </a:t>
            </a:r>
            <a:endParaRPr lang="en-US" sz="1911" u="sng" spc="38" dirty="0" smtClean="0">
              <a:solidFill>
                <a:srgbClr val="FFDE59"/>
              </a:solidFill>
              <a:latin typeface="Montserrat Bold Italics"/>
            </a:endParaRPr>
          </a:p>
        </p:txBody>
      </p:sp>
    </p:spTree>
    <p:extLst>
      <p:ext uri="{BB962C8B-B14F-4D97-AF65-F5344CB8AC3E}">
        <p14:creationId xmlns:p14="http://schemas.microsoft.com/office/powerpoint/2010/main" val="29344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26597" y="2104480"/>
            <a:ext cx="1518401" cy="644397"/>
            <a:chOff x="0" y="0"/>
            <a:chExt cx="957606" cy="406400"/>
          </a:xfrm>
        </p:grpSpPr>
        <p:sp>
          <p:nvSpPr>
            <p:cNvPr id="3" name="Freeform 3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626597" y="4610434"/>
            <a:ext cx="1518401" cy="644397"/>
            <a:chOff x="0" y="0"/>
            <a:chExt cx="957606" cy="406400"/>
          </a:xfrm>
        </p:grpSpPr>
        <p:sp>
          <p:nvSpPr>
            <p:cNvPr id="5" name="Freeform 5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1032997" y="4201017"/>
            <a:ext cx="1518401" cy="644397"/>
            <a:chOff x="0" y="0"/>
            <a:chExt cx="957606" cy="406400"/>
          </a:xfrm>
        </p:grpSpPr>
        <p:sp>
          <p:nvSpPr>
            <p:cNvPr id="7" name="Freeform 7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947F5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032997" y="1750965"/>
            <a:ext cx="1518401" cy="644397"/>
            <a:chOff x="0" y="0"/>
            <a:chExt cx="957606" cy="406400"/>
          </a:xfrm>
        </p:grpSpPr>
        <p:sp>
          <p:nvSpPr>
            <p:cNvPr id="9" name="Freeform 9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947F5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848836" y="2073164"/>
            <a:ext cx="1518401" cy="644397"/>
            <a:chOff x="0" y="0"/>
            <a:chExt cx="957606" cy="406400"/>
          </a:xfrm>
        </p:grpSpPr>
        <p:sp>
          <p:nvSpPr>
            <p:cNvPr id="11" name="Freeform 11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268196" y="1750965"/>
            <a:ext cx="1518401" cy="644397"/>
            <a:chOff x="0" y="0"/>
            <a:chExt cx="957606" cy="406400"/>
          </a:xfrm>
        </p:grpSpPr>
        <p:sp>
          <p:nvSpPr>
            <p:cNvPr id="13" name="Freeform 13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947F5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848836" y="4610434"/>
            <a:ext cx="1518401" cy="644397"/>
            <a:chOff x="0" y="0"/>
            <a:chExt cx="957606" cy="406400"/>
          </a:xfrm>
        </p:grpSpPr>
        <p:sp>
          <p:nvSpPr>
            <p:cNvPr id="15" name="Freeform 15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268196" y="4201017"/>
            <a:ext cx="1518401" cy="644397"/>
            <a:chOff x="0" y="0"/>
            <a:chExt cx="957606" cy="406400"/>
          </a:xfrm>
        </p:grpSpPr>
        <p:sp>
          <p:nvSpPr>
            <p:cNvPr id="17" name="Freeform 17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947F57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88207" y="341725"/>
            <a:ext cx="6636593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48"/>
              </a:lnSpc>
            </a:pPr>
            <a:r>
              <a:rPr lang="en-US" sz="5134" spc="-205" dirty="0">
                <a:solidFill>
                  <a:srgbClr val="1D1D1D"/>
                </a:solidFill>
                <a:latin typeface="Bodoni FLF"/>
              </a:rPr>
              <a:t>Code to </a:t>
            </a:r>
            <a:r>
              <a:rPr lang="en-US" sz="5134" spc="-205" dirty="0" smtClean="0">
                <a:solidFill>
                  <a:srgbClr val="1D1D1D"/>
                </a:solidFill>
                <a:latin typeface="Bodoni FLF"/>
              </a:rPr>
              <a:t>reproduce(Updated)</a:t>
            </a:r>
            <a:endParaRPr lang="en-US" sz="5134" spc="-205" dirty="0">
              <a:solidFill>
                <a:srgbClr val="1D1D1D"/>
              </a:solidFill>
              <a:latin typeface="Bodoni FLF"/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5" t="8333" r="15625"/>
          <a:stretch/>
        </p:blipFill>
        <p:spPr>
          <a:xfrm>
            <a:off x="1076454" y="1295400"/>
            <a:ext cx="7527640" cy="5645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26597" y="2104480"/>
            <a:ext cx="1518401" cy="644397"/>
            <a:chOff x="0" y="0"/>
            <a:chExt cx="957606" cy="406400"/>
          </a:xfrm>
        </p:grpSpPr>
        <p:sp>
          <p:nvSpPr>
            <p:cNvPr id="3" name="Freeform 3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626597" y="4610434"/>
            <a:ext cx="1518401" cy="644397"/>
            <a:chOff x="0" y="0"/>
            <a:chExt cx="957606" cy="406400"/>
          </a:xfrm>
        </p:grpSpPr>
        <p:sp>
          <p:nvSpPr>
            <p:cNvPr id="5" name="Freeform 5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-1032997" y="4201017"/>
            <a:ext cx="1518401" cy="644397"/>
            <a:chOff x="0" y="0"/>
            <a:chExt cx="957606" cy="406400"/>
          </a:xfrm>
        </p:grpSpPr>
        <p:sp>
          <p:nvSpPr>
            <p:cNvPr id="7" name="Freeform 7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947F5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032997" y="1750965"/>
            <a:ext cx="1518401" cy="644397"/>
            <a:chOff x="0" y="0"/>
            <a:chExt cx="957606" cy="406400"/>
          </a:xfrm>
        </p:grpSpPr>
        <p:sp>
          <p:nvSpPr>
            <p:cNvPr id="9" name="Freeform 9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947F57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848836" y="2073164"/>
            <a:ext cx="1518401" cy="644397"/>
            <a:chOff x="0" y="0"/>
            <a:chExt cx="957606" cy="406400"/>
          </a:xfrm>
        </p:grpSpPr>
        <p:sp>
          <p:nvSpPr>
            <p:cNvPr id="11" name="Freeform 11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268196" y="1750965"/>
            <a:ext cx="1518401" cy="644397"/>
            <a:chOff x="0" y="0"/>
            <a:chExt cx="957606" cy="406400"/>
          </a:xfrm>
        </p:grpSpPr>
        <p:sp>
          <p:nvSpPr>
            <p:cNvPr id="13" name="Freeform 13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947F57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848836" y="4610434"/>
            <a:ext cx="1518401" cy="644397"/>
            <a:chOff x="0" y="0"/>
            <a:chExt cx="957606" cy="406400"/>
          </a:xfrm>
        </p:grpSpPr>
        <p:sp>
          <p:nvSpPr>
            <p:cNvPr id="15" name="Freeform 15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3D3D3D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268196" y="4201017"/>
            <a:ext cx="1518401" cy="644397"/>
            <a:chOff x="0" y="0"/>
            <a:chExt cx="957606" cy="406400"/>
          </a:xfrm>
        </p:grpSpPr>
        <p:sp>
          <p:nvSpPr>
            <p:cNvPr id="17" name="Freeform 17"/>
            <p:cNvSpPr/>
            <p:nvPr/>
          </p:nvSpPr>
          <p:spPr>
            <a:xfrm>
              <a:off x="17780" y="22860"/>
              <a:ext cx="932206" cy="360680"/>
            </a:xfrm>
            <a:custGeom>
              <a:avLst/>
              <a:gdLst/>
              <a:ahLst/>
              <a:cxnLst/>
              <a:rect l="l" t="t" r="r" b="b"/>
              <a:pathLst>
                <a:path w="932206" h="360680">
                  <a:moveTo>
                    <a:pt x="932206" y="180340"/>
                  </a:moveTo>
                  <a:cubicBezTo>
                    <a:pt x="932206" y="81280"/>
                    <a:pt x="852196" y="0"/>
                    <a:pt x="751866" y="0"/>
                  </a:cubicBezTo>
                  <a:lnTo>
                    <a:pt x="172720" y="0"/>
                  </a:lnTo>
                  <a:lnTo>
                    <a:pt x="172720" y="1270"/>
                  </a:lnTo>
                  <a:cubicBezTo>
                    <a:pt x="76200" y="5080"/>
                    <a:pt x="0" y="83820"/>
                    <a:pt x="0" y="180340"/>
                  </a:cubicBezTo>
                  <a:cubicBezTo>
                    <a:pt x="0" y="276860"/>
                    <a:pt x="77470" y="355600"/>
                    <a:pt x="172720" y="359410"/>
                  </a:cubicBezTo>
                  <a:lnTo>
                    <a:pt x="172720" y="360680"/>
                  </a:lnTo>
                  <a:lnTo>
                    <a:pt x="751866" y="360680"/>
                  </a:lnTo>
                  <a:cubicBezTo>
                    <a:pt x="850926" y="360680"/>
                    <a:pt x="932206" y="279400"/>
                    <a:pt x="932206" y="180340"/>
                  </a:cubicBezTo>
                  <a:close/>
                </a:path>
              </a:pathLst>
            </a:custGeom>
            <a:solidFill>
              <a:srgbClr val="947F57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88207" y="341725"/>
            <a:ext cx="6636593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48"/>
              </a:lnSpc>
            </a:pPr>
            <a:r>
              <a:rPr lang="en-US" sz="5134" spc="-205" dirty="0">
                <a:solidFill>
                  <a:srgbClr val="1D1D1D"/>
                </a:solidFill>
                <a:latin typeface="Bodoni FLF"/>
              </a:rPr>
              <a:t>Code to </a:t>
            </a:r>
            <a:r>
              <a:rPr lang="en-US" sz="5134" spc="-205" dirty="0" smtClean="0">
                <a:solidFill>
                  <a:srgbClr val="1D1D1D"/>
                </a:solidFill>
                <a:latin typeface="Bodoni FLF"/>
              </a:rPr>
              <a:t>reproduce(Updated)</a:t>
            </a:r>
            <a:endParaRPr lang="en-US" sz="5134" spc="-205" dirty="0">
              <a:solidFill>
                <a:srgbClr val="1D1D1D"/>
              </a:solidFill>
              <a:latin typeface="Bodoni FLF"/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0" t="6895" r="16190"/>
          <a:stretch/>
        </p:blipFill>
        <p:spPr>
          <a:xfrm>
            <a:off x="1143000" y="1219200"/>
            <a:ext cx="7486772" cy="570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1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378</Words>
  <Application>Microsoft Office PowerPoint</Application>
  <PresentationFormat>自訂</PresentationFormat>
  <Paragraphs>44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Arial</vt:lpstr>
      <vt:lpstr>Montserrat Bold</vt:lpstr>
      <vt:lpstr>Montserrat</vt:lpstr>
      <vt:lpstr>Bodoni FLF</vt:lpstr>
      <vt:lpstr>Calibri</vt:lpstr>
      <vt:lpstr>Wingdings</vt:lpstr>
      <vt:lpstr>Montserrat Bold Italics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1 - Music taste prediction</dc:title>
  <cp:lastModifiedBy>User</cp:lastModifiedBy>
  <cp:revision>22</cp:revision>
  <dcterms:created xsi:type="dcterms:W3CDTF">2006-08-16T00:00:00Z</dcterms:created>
  <dcterms:modified xsi:type="dcterms:W3CDTF">2023-10-21T09:56:31Z</dcterms:modified>
  <dc:identifier>DAFvws-rLNI</dc:identifier>
</cp:coreProperties>
</file>